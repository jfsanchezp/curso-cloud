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8" r:id="rId5"/>
    <p:sldId id="259" r:id="rId6"/>
    <p:sldId id="260" r:id="rId7"/>
    <p:sldId id="277" r:id="rId8"/>
    <p:sldId id="276" r:id="rId9"/>
    <p:sldId id="263" r:id="rId10"/>
    <p:sldId id="265" r:id="rId11"/>
    <p:sldId id="256" r:id="rId12"/>
    <p:sldId id="262" r:id="rId13"/>
    <p:sldId id="266" r:id="rId14"/>
    <p:sldId id="264" r:id="rId15"/>
    <p:sldId id="267" r:id="rId16"/>
    <p:sldId id="270" r:id="rId17"/>
    <p:sldId id="289" r:id="rId18"/>
    <p:sldId id="271" r:id="rId19"/>
    <p:sldId id="272" r:id="rId20"/>
    <p:sldId id="273" r:id="rId21"/>
    <p:sldId id="274" r:id="rId22"/>
    <p:sldId id="278" r:id="rId23"/>
    <p:sldId id="257" r:id="rId24"/>
    <p:sldId id="275" r:id="rId25"/>
    <p:sldId id="280" r:id="rId26"/>
    <p:sldId id="281" r:id="rId27"/>
    <p:sldId id="282" r:id="rId28"/>
    <p:sldId id="283" r:id="rId29"/>
    <p:sldId id="290" r:id="rId30"/>
    <p:sldId id="284" r:id="rId31"/>
    <p:sldId id="285" r:id="rId32"/>
    <p:sldId id="286" r:id="rId33"/>
    <p:sldId id="287" r:id="rId34"/>
    <p:sldId id="288" r:id="rId35"/>
    <p:sldId id="279" r:id="rId3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9E0"/>
    <a:srgbClr val="002129"/>
    <a:srgbClr val="DED5CB"/>
    <a:srgbClr val="F42100"/>
    <a:srgbClr val="EEE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81232" autoAdjust="0"/>
  </p:normalViewPr>
  <p:slideViewPr>
    <p:cSldViewPr snapToGrid="0">
      <p:cViewPr varScale="1">
        <p:scale>
          <a:sx n="98" d="100"/>
          <a:sy n="98" d="100"/>
        </p:scale>
        <p:origin x="1416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FC58E-D751-42A6-8020-AE212C2E6372}" type="datetimeFigureOut">
              <a:rPr lang="es-ES" smtClean="0"/>
              <a:t>23/02/2026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9E1BF-F482-4B09-A220-7196C366D2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192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“Hasta ahora hemos modelado el dominio y montado una arquitectura hexagonal. Ahora vamos a dar el siguiente paso: ordenar nuestros casos de uso separando claramente qué es leer y qué es escribir.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CQRS significa: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Responsibility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Segregation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(Segregación de Responsabilidad de Comandos y Consultas). Es un patrón de diseño arquitectónico que separa las operaciones de escritura (comandos) de las operaciones de lectura (consultas) en modelos distintos, optimizando el rendimiento, la escalabilidad y la seguridad de la aplicación.”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462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74A5-06D5-E150-D6A5-0BCED03D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CACB62-F7B3-B480-A6BC-F721E853E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E11771-43C9-003E-1A8E-0D5E51FF7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“Antes de entrar en CQRS, repasamos dónde estamos:</a:t>
            </a:r>
            <a:b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En el Tema 1 aprendimos a pensar en términos de dominio: qué es importante para el negocio.</a:t>
            </a:r>
            <a:b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En el Tema 2 aprendimos a proteger ese dominio con una arquitectura hexagonal.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Hoy no vamos a cambiar de arquitectura, vamos a refinarla. Vamos a ordenar mejor los casos de uso.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Pregunta para el grupo: ¿alguien ha trabajado en sistemas donde un mismo </a:t>
            </a: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hace demasiadas cosas? ¿Qué problemas habéis visto?”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1E931-2EB2-7721-4145-6F4142A1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532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B6FE-F52D-0019-3F01-E0321D8F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A4842E-CA0A-4619-D720-5A7AFB492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4BDB5D-B51E-B3D6-FF2C-A0910D8DE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“Hemos hecho las cosas limpias a nivel de capas, pero a nivel de casos de uso seguimos mezclando responsabilidades.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“Tras el Tema 2, solemos tener algo así: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un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limpio,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una capa de aplicación con casos de uso,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un dominio bien definido.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a nivel de caso de uso, aún mezclamos: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lógica de lectura,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lógica de validación,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lógica de modificación.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es normal. CQRS aparece como un paso evolutivo natural cuando el sistema crece.”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48CCF5-3B5B-3A7E-B816-F3C44394E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225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18D4-75CE-08A0-F4D6-64195EC4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1A1104-C7DA-8030-AA68-FC5B6C81D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946BE1-88EB-A7D2-53AB-9FE3B6AAF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“Cuando un mismo servicio hace de todo, se vuelve frágil.”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“Las lecturas crecen en complejidad, las escrituras en reglas.”</a:t>
            </a:r>
            <a:endParaRPr lang="es-E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Mini-debate</a:t>
            </a:r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“¿Qué preferís optimizar primero: la escritura o la lectura? ¿Por qué?”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C1A45A-4F03-A00C-FDFE-321BB1576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267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6A9F-B3F7-D0FC-8CF3-E0838FE0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9183E6-B3C2-02E7-D035-07966FE2D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5C1AA1-128C-22E9-C8E6-787780F2C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“Nuestra fuente de verdad está en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vive de proyecciones y datos auxiliares.”</a:t>
            </a:r>
          </a:p>
          <a:p>
            <a:pPr lvl="0"/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“Leer y escribir ya son cosas distintas en la práctica.”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no controlamos la BBDD principal. El estado ‘real’ vive en 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Nuestra aplicación construye una capa de servicios encima.”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12A883-24FF-FF72-1601-C36FD4DE3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596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1E25-C459-C1D3-BCFA-384B24B9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B27BAD-4D2D-F19C-32D4-7AFD0AF05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467B98-D21A-9865-1B75-B48597A90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“Funciona, sí. Pero empieza a doler cuando el sistema crece.”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1499C2-695A-EE88-8962-80916B658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167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C7E1-9A24-5260-83A3-86A6C371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DA7038-4568-5492-F24D-E4ECB1E96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4C9953-2AF1-30BC-F94D-0BF1CF936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“Permite que cada una evolucione de forma independiente.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escribir es cambiar el estado del sistema,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leer es obtener una visión del estado.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que esas dos cosas tienen necesidades distintas: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en escritura me importa la consistencia,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en lectura me importa la eficiencia y el formato.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curso, CQRS significa: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separar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permitir modelos distintos,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organizar mejor el código.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es una moda ni una tecnología nueva. Es ordenar el código según las responsabilidades reales.”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D8DBA7-AAB2-E866-D493-21BF75F29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456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Cambiar la imagen de la transparencia, el diagrama incluye eventos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581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E5AD-9F0C-25A8-F609-BE83B3EA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9DDF1B-65FC-A86A-544D-E8CDE3726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E2F520-60D2-A04E-6AFE-CF8069D32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“Uno de los conceptos clave para ver nuestro situación, es que tenemos claramente dos partes, uno 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lo define y que pertenece a la empresa de vuelos que nos ha contratado y otro la API de servicios que pertenece a la universidad de Murcia y que pertenecería claramente a nuestro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tiene sentido usar el mismo modelo cuando leemos de vistas y escribimos en sistemas distintos.”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D37294-E5D0-24A8-F6BE-421FA420B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9629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0457-0701-8F56-F0BC-69ED60CF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6075D9-4C21-A6B3-8425-463F10B97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30C6B0-2328-BBE3-2B62-299E93DEA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añadimos funcionalidad. Cambiamos estructura mental.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decir, si vemos este ejemplo, vamos a suponer que tenemos el caso de uso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GestionarVuelosUseCase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Una vez echa la separación con el patrón CQRS, vamos a tener ….”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8133F4-722F-4432-D4AC-B08E5EF8F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626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0051-B328-7812-357C-89C862D8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714F3E-5D49-3797-B7A0-BA6895BAB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5B0FC4-BC6B-6199-CF22-8E6247FB6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expresa intención: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‘quiero crear X’,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‘quiero modificar Y’.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CommandHandler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valida el caso de uso,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aplica reglas del dominio,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orquesta la operación.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debería preocuparse de cómo se va a mostrar el resultado en pantalla.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 foco es el cambio de estado.”</a:t>
            </a:r>
          </a:p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Ejemplo del caso práctico: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“Crear una inscripción, actualizar un estado, anular una solicitud…”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responde a ‘qué veo’, sino a ‘qué quiero hacer’.”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34ECD7-85F8-B83D-FA1F-1D9894234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786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90C6-FCF4-49B9-808B-9A03566A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54AA72-C025-970B-9F60-DB5DF84B3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C5280C8-D22A-EBB7-4BF4-96834D889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responde a ‘qué información necesito ahora’.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nuestro contexto: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puede venir de una vista del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puede venir de una tabla propia,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puede ser una agregación de varias fuentes.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el dominio actúa más como traductor de significado que como motor de cambios.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eso el modelo de lectura puede ser distinto y estar más cerca de la UI.”</a:t>
            </a:r>
          </a:p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Ejemplo: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“Listado de inscripciones con nombre, estado y fecha: eso no es el mismo modelo que el que usas para crear una inscripción.”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debería saber nada de cómo se escriben los datos.”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93BEB3-2806-C6C3-92FD-A73120A54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7839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88C6-F84B-25DA-FCD7-8E7F1503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A587C3-EE77-2FAA-FC31-CBF3B158E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ACCC67-904D-0005-1DB1-CFEDCEA73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miramos nuestro sistema real: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REST traduce peticiones en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capa de aplicación ejecuta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El dominio valida reglas.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escritura final se materializa en 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lectura se apoya en proyecciones del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CQRS no cambia esta arquitectura, la ordena internamente.”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Puedes dibujar el diagrama en pizarra o mostrarlo en una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“Hexagonal nos da la estructura de capas; CQRS nos ordena los casos de uso dentro de esa estructura.”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458F9A-486C-C9FD-DFC1-4188E8673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137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21C4-A93B-8253-49DA-C07D50D08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794FCD-B063-9770-67F7-632604C44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8041EA-9E02-7DF8-B946-070A3132A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miramos nuestro sistema real: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REST traduce peticiones en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capa de aplicación ejecuta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El dominio valida reglas.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escritura final se materializa en 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lectura se apoya en proyecciones del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CQRS no cambia esta arquitectura, la ordena internamente.”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Puedes dibujar el diagrama en pizarra o mostrarlo en una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“Hexagonal nos da la estructura de capas; CQRS nos ordena los casos de uso dentro de esa estructura.”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B8ED4C-AC5B-F62E-19C9-CC270FE0E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1771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0403F-E14D-1C01-9F92-AD645D81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D3882F-CE50-A386-E820-95550B177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4F9564-94C9-4225-0DD7-B024CA8B6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“Esto no es solo ‘arquitectura bonita’: se traduce en menos fricción al mantener el sistema.”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“Beneficios: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código más legible,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responsabilidades más claras,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mejor alineación con la realidad de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0275BD-A220-544E-F232-1294E1683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329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F982-FED3-1E28-52E6-5303A7A7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325D69-B318-02B7-CB85-985F42C59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CAC2FE-6C8A-FDD3-86AC-BDC5FF0BD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“CQRS mal aplicado solo añade complejidad sin beneficios.”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Límites: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CQRS no resuelve problemas de comunicación entre sistemas,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CQRS no elimina la complejidad del negocio,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solo la hace más explícita.”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F6AFF2-FDEB-F93F-66D2-C9A90609B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743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69DC-CA31-48BF-12EC-2AE2DC6B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CE76B6-56BB-D548-E169-438337B45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B1ECC3-AE34-8BF7-16B6-A7ECD03EF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“DDD te dice qué es importante. Hexagonal te ayuda a aislarlo. CQRS te da orden cuando el sistema crece.”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es donde encajan las tres piezas: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DDD te obliga a pensar en el dominio.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Hexagonal te obliga a protegerlo.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CQRS te obliga a ordenar los casos de uso.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Juntas, estas tres ideas hacen que el sistema sea más mantenible a medio y largo plazo.”</a:t>
            </a:r>
          </a:p>
          <a:p>
            <a:r>
              <a:rPr lang="es-E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Pregunta al grupo: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“¿Cuál de las tres os parece más ‘difícil’ de aplicar en proyectos reales y por qué?”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CC62B0-64E7-CF92-84AC-623315368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9968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8AE5-65B4-6255-E463-16DD7DFF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0E3FB0-7B1C-0099-0E2D-19F7F8297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2CD3E2-81E4-B957-7276-E6F0138D1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 nuestro sistema, el dominio no cambia el estado final: valida reglas e impulsa el cambio </a:t>
            </a:r>
            <a:r>
              <a:rPr lang="es-ES" dirty="0"/>
              <a:t>expresa intención, 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la fuente de verdad vive en 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miramos nuestro sistema real: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REST traduce peticiones en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capa de aplicación ejecuta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El dominio valida reglas.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escritura final se materializa en 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La lectura se apoya en proyecciones del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frontoffice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CQRS no cambia esta arquitectura, la ordena internamente.”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CDECD2-7920-F9E3-5392-8C6E62E95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220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DD83-A1C9-C8CC-F4E2-3BA244AE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847702F-CF25-CDE7-1020-CD6629A75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C8C39E-A8A8-438B-B280-73EC28DAB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“Hemos ordenado el código. En el siguiente tema vamos a ordenar el tiempo: quién reacciona a qué y cuándo.”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“Hoy hemos ordenado el código separando lectura y escritura.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Aun así, muchos sistemas siguen teniendo un problema: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 ocurre de forma muy acoplada en el tiempo.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siguiente tema veremos cómo dar el siguiente paso:</a:t>
            </a:r>
            <a:b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permitir que el sistema reaccione a cambios de forma más desacoplada, y cómo eso encaja con CQRS.”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068F7A-2024-D983-BD80-0E960933C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561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895CD-236D-D64F-4ED5-10306CB8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F4BB12-13F3-5312-2891-B92D58DE9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0D6011-DAEA-F60B-A502-441E5203F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“Es una librería que estandariza patrones que ya conocéis (CQRS y eventos) para que todos los proyectos los implementen igual.”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F5841B-CE91-2412-0804-34816B704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3681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B201-16B0-13F0-3EF6-42EF9BE6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882374-D1B8-D4C0-B42D-3B26B2DD3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B075B7-CD78-9156-2ECC-BC453AF15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“UMUBUS no sustituye a DDD ni a Hexagonal: los complementa, dándonos una forma estándar de estructurar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74C250-0B06-EC39-2DB3-EBA916EE6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319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A949-C06B-D980-A89B-193DBDE8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87961C-B115-6BB4-794C-D543AB37B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51F50D-071F-3EEC-924A-55B391984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“Pensad en UMUBUS como el pegamento entre los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los casos de uso. Como la infraestructura que nos va a ayudar a mantener todo estandarizado”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557545-176D-DD3A-94E7-68C2E2B55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891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752F-15A0-D951-5478-2CB4956E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81D22B-2435-1317-F995-705894DF0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A4879F-2913-A549-645B-0AD874978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conoce la lógica. El dominio no conoce HTTP. UMUBUS estructura el punto intermedio.”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CB442D-71D1-EB90-2B3D-06FE80904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980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CF468-183C-CE33-3865-A996C3F6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BD34C9-6B65-730E-DB6D-92AC470E2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6B04162-7F08-5BCD-32D1-BE5BFF8BE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BE7A5A-33E2-5ECF-9F9B-A6386D3DA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0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F0C21-9521-BAB0-7BFB-D683D66F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E11768-0061-EC9E-9597-73131359D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85CE5D-FFAE-62FD-5448-BEA69C5C2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45175C-E697-CE62-88B5-CA507675E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56800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63F6-6ED5-D308-4A24-F11CC772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B55D45-83AE-0C42-E4E6-719B49E5B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8FF248-B2FF-A27A-59CD-F62339D29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5722DE-C40A-7621-970A-CB5393274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3071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A3C8-DCDD-270B-F7F3-067E922C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70E36E-240B-C171-BAA9-CB2835D8C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06670A-6B4E-6953-F7E3-4ECBB6B69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65D318-CC14-CAA4-E4DA-10DF6D8E3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16607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06338-4A4D-3F0B-FB85-0B36D40D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B2CE44-2182-849A-F410-93D8FDF31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C85C5C-9880-9BE2-D397-F377D3613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8A79C0-11DB-0F67-5B01-7A317975E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84138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1283B-AB45-98C4-FB8F-09D73616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1C3AE7-0382-48B8-D5C4-894A239CD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B0AAD3-3FDE-54C4-9DEA-C9F765140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9B717B-9BD1-7F29-0732-9EA41ED1B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0432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1466-95BF-96B3-0A85-6C2EDA2D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F902A7-44DA-AFC2-C367-F69962E2D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A9E5FC-91E9-E479-DA46-1DAB045E8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3CD99B-71F9-2ADB-147F-19B5A4F72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75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0134-03CF-B844-5FE9-CF8D98613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365126"/>
            <a:ext cx="5187600" cy="31591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s-ES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3E5D99-2FA6-118F-552A-8DEFB9BF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67747"/>
            <a:ext cx="9144000" cy="46567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3EEE225-C217-1C99-1C7E-CBF0867951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AEFA2ED0-E7EC-A30F-6300-F3D7529FA1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Nombre Unidad</a:t>
            </a:r>
          </a:p>
        </p:txBody>
      </p:sp>
    </p:spTree>
    <p:extLst>
      <p:ext uri="{BB962C8B-B14F-4D97-AF65-F5344CB8AC3E}">
        <p14:creationId xmlns:p14="http://schemas.microsoft.com/office/powerpoint/2010/main" val="218432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35629-BE3D-F1DE-9ADB-5BD0477F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B778B-C65B-6717-9635-1C6D8B0A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D331AF2F-C6FC-7331-31E3-0E313DB24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2244BFD9-1AA9-7014-183E-0BDFCC8182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904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B84AD-5D38-27F0-2A96-7B7E6AF2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715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4CD48-36DF-ADBB-466D-70C2378E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51263"/>
            <a:ext cx="10515600" cy="17351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659715E7-79BC-CB55-5398-83D150768D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D696B9DE-6579-D3CE-83FA-40F695B387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877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B7EAF-AA53-B0E7-36F8-BE36A7D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A128E-7454-986D-3D81-73036B254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5181600" cy="4632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CF0C9D-133E-655C-95C4-D980D9885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73125"/>
            <a:ext cx="5181600" cy="4632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A0299F-A92E-5A14-FA99-29D625D41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F01B5BFF-96A1-4721-C871-E829BEF071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939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02622-0A02-2239-E45F-F88F1693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5157787" cy="31591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3E9A4C-7843-4930-1F6A-8A6EAC77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286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C5E003-C45B-E844-FBC0-42094D326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52600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EB0212-7E76-8601-742C-D3BE8719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286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044D1B-8BE3-EC9D-E50E-28FA964B2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52600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CD1B1445-8FF5-17C4-6D98-D6488576BC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7A06D4B6-2F80-6030-4EFE-843A0BD8DA1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70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D4A59-08EC-8657-C6F6-41A8C2F3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7AF110-417D-D60F-C38D-6900F4DA9E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A50192-175F-1585-1926-B864761E58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841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BA4D09-9960-A79B-27E9-59800BB052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2ACB0EF7-3DEA-FF0D-D5AB-E210B6A328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435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AD63A-CCF7-50B3-7141-24378E2E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99A0E7-FE36-ADF4-345D-8954F068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6037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4BBD5B-FDBC-A348-1A00-7BC1123E3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337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01CFB5-5012-CEA4-7EB0-3ECFAA925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45F80777-0822-16A3-E9A0-970AEA5A35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199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B2C74-536E-9FCE-68AE-D2C8C432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E08CBC-4C77-A911-9167-9975951D5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632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9EBF62-32B3-0BDF-77EA-0271FE610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623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79C548-2306-DA10-3E9B-8A73C52E8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A516B9CC-B7A0-1422-D941-4E3CE420E2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729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82953-896C-72F2-4D88-3F380798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8D2EE4-BE01-C004-DC44-ECC856962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5EF7CC4E-0EC4-319F-ED78-96E4075A21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63944EB-7AAF-4448-4A5E-70CC6E6EE8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299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23C432-1CB3-C8E5-2988-94E0262E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81049"/>
            <a:ext cx="2628900" cy="48291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05BC5C-8E09-120E-7819-CA46D7C1E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1049"/>
            <a:ext cx="7734300" cy="48291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0E58F960-959A-1B58-D1B5-8F340040A8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5F4D9FEF-A254-1AA9-5B4A-DEF8E1E752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052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"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16">
            <a:extLst>
              <a:ext uri="{FF2B5EF4-FFF2-40B4-BE49-F238E27FC236}">
                <a16:creationId xmlns:a16="http://schemas.microsoft.com/office/drawing/2014/main" id="{71FE5AC9-2F36-C5C1-243B-3B039E767334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2589B-554D-FC37-3410-065B8D7FE1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EEE9E0"/>
                </a:solidFill>
              </a:defRPr>
            </a:lvl1pPr>
          </a:lstStyle>
          <a:p>
            <a:r>
              <a:rPr lang="es-ES" dirty="0"/>
              <a:t>Nombre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A8BFF3-73AB-9E6F-9AC1-73D2BAE947E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952527"/>
            <a:ext cx="4777200" cy="691200"/>
          </a:xfrm>
          <a:prstGeom prst="rect">
            <a:avLst/>
          </a:prstGeom>
        </p:spPr>
      </p:pic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D8AFB1-406A-1993-4AD1-B076E5F1A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anchor="t"/>
          <a:lstStyle>
            <a:lvl1pPr>
              <a:defRPr/>
            </a:lvl1pPr>
          </a:lstStyle>
          <a:p>
            <a:pPr algn="r"/>
            <a:r>
              <a:rPr lang="es-ES" dirty="0"/>
              <a:t>Nombre y apellidos ponente/s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B00AEB7-8005-5FDB-B8D1-DA0A1E83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186263" cy="5206999"/>
          </a:xfrm>
        </p:spPr>
        <p:txBody>
          <a:bodyPr anchor="t"/>
          <a:lstStyle>
            <a:lvl1pPr algn="l">
              <a:defRPr sz="6000">
                <a:solidFill>
                  <a:srgbClr val="DED5CB"/>
                </a:solidFill>
              </a:defRPr>
            </a:lvl1pPr>
          </a:lstStyle>
          <a:p>
            <a:r>
              <a:rPr lang="es-ES" dirty="0"/>
              <a:t>Haga clic para modificar el de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9391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to Capítulo"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16">
            <a:extLst>
              <a:ext uri="{FF2B5EF4-FFF2-40B4-BE49-F238E27FC236}">
                <a16:creationId xmlns:a16="http://schemas.microsoft.com/office/drawing/2014/main" id="{A4EFE4AF-9D8C-AD9A-E16C-39301D85FE95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A7FA0D-C946-40D6-8C2E-A1DF5DD3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6263" cy="5206999"/>
          </a:xfrm>
        </p:spPr>
        <p:txBody>
          <a:bodyPr anchor="t"/>
          <a:lstStyle>
            <a:lvl1pPr algn="l">
              <a:defRPr sz="6000">
                <a:solidFill>
                  <a:srgbClr val="DED5CB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BE7D12-5774-84AD-7A4E-EF43DE832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6"/>
            <a:ext cx="5186263" cy="5206998"/>
          </a:xfrm>
        </p:spPr>
        <p:txBody>
          <a:bodyPr anchor="t"/>
          <a:lstStyle>
            <a:lvl1pPr>
              <a:defRPr/>
            </a:lvl1pPr>
          </a:lstStyle>
          <a:p>
            <a:pPr algn="r"/>
            <a:r>
              <a:rPr lang="es-ES" sz="6000" dirty="0">
                <a:solidFill>
                  <a:srgbClr val="DED5CB"/>
                </a:solidFill>
                <a:ea typeface="+mj-ea"/>
                <a:cs typeface="+mj-cs"/>
              </a:rPr>
              <a:t>Núm. Capítulo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2589B-554D-FC37-3410-065B8D7FE1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EEE9E0"/>
                </a:solidFill>
              </a:defRPr>
            </a:lvl1pPr>
          </a:lstStyle>
          <a:p>
            <a:r>
              <a:rPr lang="es-ES" dirty="0"/>
              <a:t>Nombre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A8BFF3-73AB-9E6F-9AC1-73D2BAE947E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959617"/>
            <a:ext cx="4777200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46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489A3C-9EAE-4E1A-5D5A-1A2A395110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06825" y="1139825"/>
            <a:ext cx="4578350" cy="45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13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0043E-AFFC-C0ED-FC94-E5126C7B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703CB9-8B6F-BEC0-9618-03CA95B04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A6B0E-33F2-55BE-4C6A-D5A35F36F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239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6434D3-F78E-A0B4-56B6-DF951000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5E512-936D-C48D-3C76-7E3139089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86408"/>
            <a:ext cx="10515600" cy="4733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F41017BF-444F-5CBB-50E9-A7B775D17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7535" y="365126"/>
            <a:ext cx="5186263" cy="315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F42100"/>
                </a:solidFill>
                <a:latin typeface="IBM Plex Sans" panose="020B0503050203000203" pitchFamily="34" charset="0"/>
              </a:defRPr>
            </a:lvl1pPr>
          </a:lstStyle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10" name="Rectángulo redondeado 16">
            <a:extLst>
              <a:ext uri="{FF2B5EF4-FFF2-40B4-BE49-F238E27FC236}">
                <a16:creationId xmlns:a16="http://schemas.microsoft.com/office/drawing/2014/main" id="{AEDF752A-2C38-F099-B9CE-D8502CD9AD7F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6E544AF-DACA-D201-9AD0-2F040507A5D8}"/>
              </a:ext>
            </a:extLst>
          </p:cNvPr>
          <p:cNvPicPr>
            <a:picLocks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38200" y="5958667"/>
            <a:ext cx="4778296" cy="691200"/>
          </a:xfrm>
          <a:prstGeom prst="rect">
            <a:avLst/>
          </a:prstGeom>
        </p:spPr>
      </p:pic>
      <p:sp>
        <p:nvSpPr>
          <p:cNvPr id="13" name="Marcador de fecha 12">
            <a:extLst>
              <a:ext uri="{FF2B5EF4-FFF2-40B4-BE49-F238E27FC236}">
                <a16:creationId xmlns:a16="http://schemas.microsoft.com/office/drawing/2014/main" id="{838B2287-86A7-4C0B-D681-5CE7A689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43245" y="5958667"/>
            <a:ext cx="2910553" cy="692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00212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s-ES" dirty="0"/>
              <a:t>Nombre Unidad</a:t>
            </a:r>
          </a:p>
        </p:txBody>
      </p:sp>
    </p:spTree>
    <p:extLst>
      <p:ext uri="{BB962C8B-B14F-4D97-AF65-F5344CB8AC3E}">
        <p14:creationId xmlns:p14="http://schemas.microsoft.com/office/powerpoint/2010/main" val="97247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rgbClr val="F42100"/>
          </a:solidFill>
          <a:latin typeface="IBM Plex Sans" panose="020B050305020300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28FFD3-3209-26B9-183E-0B1227CCEC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r>
              <a:rPr lang="es-ES" dirty="0"/>
              <a:t>ATICA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5B78AF-22EC-5EB5-0025-E17CA0DD52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940AADC-8F31-644F-7E0C-3DA7F42F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75542" cy="5206999"/>
          </a:xfrm>
        </p:spPr>
        <p:txBody>
          <a:bodyPr/>
          <a:lstStyle/>
          <a:p>
            <a:r>
              <a:rPr lang="es-ES" dirty="0"/>
              <a:t>Tema 3. CQRS en sistemas reales</a:t>
            </a:r>
            <a:br>
              <a:rPr lang="es-ES" dirty="0"/>
            </a:br>
            <a:br>
              <a:rPr lang="es-ES" dirty="0"/>
            </a:br>
            <a:r>
              <a:rPr lang="es-ES" sz="3000" dirty="0">
                <a:solidFill>
                  <a:srgbClr val="FF0000"/>
                </a:solidFill>
              </a:rPr>
              <a:t>Separando lectura y escritura en nuestro caso práctico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220204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02C3-E479-AC90-2905-76B89F8B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D9875-09CF-8C7A-AC31-EBA89142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240636-34E4-870E-3E5F-6E72AF581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 err="1"/>
              <a:t>Recap</a:t>
            </a:r>
            <a:r>
              <a:rPr lang="es-ES" b="1" dirty="0"/>
              <a:t>: de dónde venimos</a:t>
            </a:r>
            <a:endParaRPr lang="es-ES" dirty="0"/>
          </a:p>
          <a:p>
            <a:endParaRPr lang="es-ES" b="1" dirty="0"/>
          </a:p>
          <a:p>
            <a:pPr marL="0" lvl="0" indent="0">
              <a:buNone/>
            </a:pPr>
            <a:r>
              <a:rPr lang="es-ES" dirty="0"/>
              <a:t>Hemos visto:</a:t>
            </a:r>
          </a:p>
          <a:p>
            <a:pPr lvl="0"/>
            <a:r>
              <a:rPr lang="es-ES" dirty="0"/>
              <a:t>DDD → modelo del dominio y reglas</a:t>
            </a:r>
          </a:p>
          <a:p>
            <a:pPr lvl="0"/>
            <a:r>
              <a:rPr lang="es-ES" dirty="0"/>
              <a:t>Hexagonal → capas, puertos y adaptadores</a:t>
            </a:r>
          </a:p>
          <a:p>
            <a:pPr lvl="0"/>
            <a:endParaRPr lang="es-ES" dirty="0"/>
          </a:p>
          <a:p>
            <a:pPr marL="342900" indent="-342900"/>
            <a:r>
              <a:rPr lang="es-ES" b="1" dirty="0"/>
              <a:t>Pregunta clave:</a:t>
            </a:r>
            <a:br>
              <a:rPr lang="es-ES" dirty="0"/>
            </a:br>
            <a:r>
              <a:rPr lang="es-ES" dirty="0"/>
              <a:t>¿Cómo organizamos los casos de uso cuando el sistema crece?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71079E-D0A2-E1F8-03B4-426BC21CD0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3B8D3E-5282-1891-F683-AAF51AF8994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85101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A74C-F9EE-591E-EA8C-E2F51FD5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E9476-8F9C-D672-4E56-F49A3C72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53C02F-75AC-8F1C-F843-C8B5C5BAC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Estado actual tras el Tema 2 (Hexagonal)</a:t>
            </a:r>
          </a:p>
          <a:p>
            <a:endParaRPr lang="es-ES" dirty="0"/>
          </a:p>
          <a:p>
            <a:pPr lvl="0"/>
            <a:r>
              <a:rPr lang="es-ES" dirty="0"/>
              <a:t>Arquitectura hexagonal funcionando</a:t>
            </a:r>
          </a:p>
          <a:p>
            <a:pPr lvl="0"/>
            <a:r>
              <a:rPr lang="es-ES" dirty="0"/>
              <a:t>Dominio modelado</a:t>
            </a:r>
          </a:p>
          <a:p>
            <a:pPr lvl="0"/>
            <a:r>
              <a:rPr lang="es-ES" dirty="0"/>
              <a:t>Casos de uso que mezclan:</a:t>
            </a:r>
          </a:p>
          <a:p>
            <a:pPr lvl="1"/>
            <a:r>
              <a:rPr lang="es-ES" dirty="0"/>
              <a:t>lectura</a:t>
            </a:r>
          </a:p>
          <a:p>
            <a:pPr lvl="1"/>
            <a:r>
              <a:rPr lang="es-ES" dirty="0"/>
              <a:t>validación</a:t>
            </a:r>
          </a:p>
          <a:p>
            <a:pPr lvl="1"/>
            <a:r>
              <a:rPr lang="es-ES" dirty="0"/>
              <a:t>modificación de estado</a:t>
            </a:r>
          </a:p>
          <a:p>
            <a:pPr lvl="0"/>
            <a:r>
              <a:rPr lang="es-ES" dirty="0"/>
              <a:t>Un mismo modelo para leer y escribir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656EC4-EBC5-1158-AE43-9EC87D30BB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70EF85-0874-D52F-7698-78C29CFCCC1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35114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267E1-1AD0-F050-16DE-6C2EAC59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73541-1376-0584-3181-C511E89B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7DFF98-6012-81DC-9C80-B5FEAA88F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El problema del CRUD “plano”</a:t>
            </a:r>
          </a:p>
          <a:p>
            <a:endParaRPr lang="es-ES" dirty="0"/>
          </a:p>
          <a:p>
            <a:pPr lvl="0"/>
            <a:r>
              <a:rPr lang="es-ES" dirty="0"/>
              <a:t>Lecturas cada vez más complejas</a:t>
            </a:r>
          </a:p>
          <a:p>
            <a:pPr lvl="0"/>
            <a:r>
              <a:rPr lang="es-ES" dirty="0"/>
              <a:t>Escrituras con reglas de negocio</a:t>
            </a:r>
          </a:p>
          <a:p>
            <a:pPr lvl="0"/>
            <a:r>
              <a:rPr lang="es-ES" dirty="0"/>
              <a:t>Un mismo servicio hace de todo</a:t>
            </a:r>
          </a:p>
          <a:p>
            <a:pPr lvl="0"/>
            <a:r>
              <a:rPr lang="es-ES" dirty="0"/>
              <a:t>Cambios en lectura rompen escritura (y viceversa)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36BFE1-2D3C-0909-2C5C-9E8404E37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83BC08-51B1-4482-822A-D85F000F852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416395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B888-0347-C4BC-CEFF-E35F37F0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B8118-2101-2DAD-C497-1943953A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F1DE62-E2C1-80CE-8458-D6420D842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Contexto real: nuestra </a:t>
            </a:r>
            <a:r>
              <a:rPr lang="es-ES" b="1" dirty="0" err="1"/>
              <a:t>aplicacion</a:t>
            </a:r>
            <a:endParaRPr lang="es-ES" dirty="0"/>
          </a:p>
          <a:p>
            <a:endParaRPr lang="es-ES" b="1" dirty="0"/>
          </a:p>
          <a:p>
            <a:pPr lvl="0"/>
            <a:r>
              <a:rPr lang="es-ES" dirty="0"/>
              <a:t>Sistemas </a:t>
            </a:r>
            <a:r>
              <a:rPr lang="es-ES" dirty="0" err="1"/>
              <a:t>legacy</a:t>
            </a:r>
            <a:r>
              <a:rPr lang="es-ES" dirty="0"/>
              <a:t> / </a:t>
            </a:r>
            <a:r>
              <a:rPr lang="es-ES" dirty="0" err="1"/>
              <a:t>backoffice</a:t>
            </a:r>
            <a:r>
              <a:rPr lang="es-ES" dirty="0"/>
              <a:t> como </a:t>
            </a:r>
            <a:r>
              <a:rPr lang="es-ES" b="1" dirty="0"/>
              <a:t>fuente de verdad</a:t>
            </a:r>
            <a:endParaRPr lang="es-ES" dirty="0"/>
          </a:p>
          <a:p>
            <a:pPr lvl="0"/>
            <a:r>
              <a:rPr lang="es-ES" dirty="0" err="1"/>
              <a:t>Frontoffice</a:t>
            </a:r>
            <a:r>
              <a:rPr lang="es-ES" dirty="0"/>
              <a:t> como capa de servicio</a:t>
            </a:r>
          </a:p>
          <a:p>
            <a:pPr lvl="0"/>
            <a:r>
              <a:rPr lang="es-ES" dirty="0"/>
              <a:t>Lecturas desde:</a:t>
            </a:r>
          </a:p>
          <a:p>
            <a:pPr lvl="1"/>
            <a:r>
              <a:rPr lang="es-ES" dirty="0"/>
              <a:t>Vistas/proyecciones del </a:t>
            </a:r>
            <a:r>
              <a:rPr lang="es-ES" dirty="0" err="1"/>
              <a:t>backoffice</a:t>
            </a:r>
            <a:endParaRPr lang="es-ES" dirty="0"/>
          </a:p>
          <a:p>
            <a:pPr lvl="1"/>
            <a:r>
              <a:rPr lang="es-ES" dirty="0"/>
              <a:t>tablas propias del </a:t>
            </a:r>
            <a:r>
              <a:rPr lang="es-ES" dirty="0" err="1"/>
              <a:t>frontoffice</a:t>
            </a:r>
            <a:endParaRPr lang="es-ES" dirty="0"/>
          </a:p>
          <a:p>
            <a:pPr lvl="0"/>
            <a:r>
              <a:rPr lang="es-ES" dirty="0"/>
              <a:t>Escrituras se materializan en el </a:t>
            </a:r>
            <a:r>
              <a:rPr lang="es-ES" dirty="0" err="1"/>
              <a:t>backoffice</a:t>
            </a:r>
            <a:endParaRPr lang="es-ES" dirty="0"/>
          </a:p>
          <a:p>
            <a:pPr lvl="0"/>
            <a:r>
              <a:rPr lang="es-ES" dirty="0"/>
              <a:t>Necesidad de </a:t>
            </a:r>
            <a:r>
              <a:rPr lang="es-ES" b="1" dirty="0"/>
              <a:t>proyecciones de lectura</a:t>
            </a:r>
          </a:p>
          <a:p>
            <a:pPr lvl="0"/>
            <a:r>
              <a:rPr lang="es-ES" b="1" dirty="0"/>
              <a:t>¡¡En la práctica ya son distintas las lecturas y escrituras!!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498CFE-D473-D502-CE49-EA1FFA705E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0C8760-DA17-1A5D-F763-37233CB8A3F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03119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7B6F-0BBD-BF0E-0748-A0F36E6F6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D944E-D2CA-5CF5-7468-2A68CF78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6BB822-DEB2-827D-F26C-38DDDA90B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b="1" dirty="0"/>
              <a:t>Problemas del enfoque sin CQRS</a:t>
            </a:r>
          </a:p>
          <a:p>
            <a:pPr marL="0" indent="0">
              <a:buNone/>
            </a:pPr>
            <a:endParaRPr lang="es-ES" sz="3000" dirty="0"/>
          </a:p>
          <a:p>
            <a:pPr lvl="0"/>
            <a:r>
              <a:rPr lang="es-ES" dirty="0"/>
              <a:t>Casos de uso demasiado grandes</a:t>
            </a:r>
          </a:p>
          <a:p>
            <a:pPr lvl="0"/>
            <a:r>
              <a:rPr lang="es-ES" dirty="0"/>
              <a:t>Modelos forzados a servir para:</a:t>
            </a:r>
          </a:p>
          <a:p>
            <a:pPr lvl="1"/>
            <a:r>
              <a:rPr lang="es-ES" dirty="0"/>
              <a:t>lectura</a:t>
            </a:r>
          </a:p>
          <a:p>
            <a:pPr lvl="1"/>
            <a:r>
              <a:rPr lang="es-ES" dirty="0"/>
              <a:t>escritura</a:t>
            </a:r>
          </a:p>
          <a:p>
            <a:pPr lvl="0"/>
            <a:r>
              <a:rPr lang="es-ES" dirty="0"/>
              <a:t>Dificultad para optimizar lecturas</a:t>
            </a:r>
          </a:p>
          <a:p>
            <a:pPr lvl="0"/>
            <a:r>
              <a:rPr lang="es-ES" dirty="0"/>
              <a:t>Acoplamiento UI ↔ modelo interno</a:t>
            </a:r>
          </a:p>
          <a:p>
            <a:pPr lvl="0"/>
            <a:r>
              <a:rPr lang="es-ES" dirty="0"/>
              <a:t>Fricción con </a:t>
            </a:r>
            <a:r>
              <a:rPr lang="es-ES" dirty="0" err="1"/>
              <a:t>legacy</a:t>
            </a:r>
            <a:r>
              <a:rPr lang="es-ES" dirty="0"/>
              <a:t> como fuente de verdad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6B13-CF7E-CE72-4724-2585741B1B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CE68C-86DA-BD40-93D8-6F015426DF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49556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535F-3974-7092-B60C-9DC0372F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206DC-E008-6380-741A-B4F77728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87E597-A7AD-659D-C5DC-A03E4A142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Qué es CQRS</a:t>
            </a:r>
            <a:endParaRPr lang="es-ES" dirty="0"/>
          </a:p>
          <a:p>
            <a:pPr marL="0" indent="0">
              <a:lnSpc>
                <a:spcPct val="100000"/>
              </a:lnSpc>
              <a:buNone/>
            </a:pPr>
            <a:endParaRPr lang="es-ES" sz="2400" dirty="0"/>
          </a:p>
          <a:p>
            <a:pPr lvl="0"/>
            <a:r>
              <a:rPr lang="es-ES" dirty="0"/>
              <a:t>Separar:</a:t>
            </a:r>
          </a:p>
          <a:p>
            <a:pPr lvl="1"/>
            <a:r>
              <a:rPr lang="es-ES" b="1" dirty="0" err="1"/>
              <a:t>Commands</a:t>
            </a:r>
            <a:r>
              <a:rPr lang="es-ES" dirty="0"/>
              <a:t> → cambian el estado</a:t>
            </a:r>
          </a:p>
          <a:p>
            <a:pPr lvl="1"/>
            <a:r>
              <a:rPr lang="es-ES" b="1" dirty="0" err="1"/>
              <a:t>Queries</a:t>
            </a:r>
            <a:r>
              <a:rPr lang="es-ES" dirty="0"/>
              <a:t> → obtienen información</a:t>
            </a:r>
          </a:p>
          <a:p>
            <a:pPr lvl="0"/>
            <a:r>
              <a:rPr lang="es-ES" dirty="0"/>
              <a:t>Separar:</a:t>
            </a:r>
          </a:p>
          <a:p>
            <a:pPr lvl="1"/>
            <a:r>
              <a:rPr lang="es-ES" dirty="0"/>
              <a:t>modelos</a:t>
            </a:r>
          </a:p>
          <a:p>
            <a:pPr lvl="1"/>
            <a:r>
              <a:rPr lang="es-ES" dirty="0"/>
              <a:t>casos de uso</a:t>
            </a:r>
          </a:p>
          <a:p>
            <a:pPr lvl="0"/>
            <a:r>
              <a:rPr lang="es-ES" dirty="0"/>
              <a:t>CQRS como </a:t>
            </a:r>
            <a:r>
              <a:rPr lang="es-ES" b="1" dirty="0" err="1"/>
              <a:t>refactor</a:t>
            </a:r>
            <a:r>
              <a:rPr lang="es-ES" b="1" dirty="0"/>
              <a:t> estructural</a:t>
            </a:r>
            <a:endParaRPr lang="es-ES" dirty="0"/>
          </a:p>
          <a:p>
            <a:pPr lvl="0"/>
            <a:r>
              <a:rPr lang="es-ES" strike="sngStrike" dirty="0"/>
              <a:t>No entramos aún en comunicación asíncrona</a:t>
            </a:r>
            <a:endParaRPr lang="es-ES" sz="2400" strike="sngStrike" dirty="0"/>
          </a:p>
          <a:p>
            <a:endParaRPr lang="es-ES" sz="2400" dirty="0"/>
          </a:p>
          <a:p>
            <a:endParaRPr lang="es-ES" sz="24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42CBB0-FD78-5574-F0B3-7FC622F23F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3FD69-A242-7A89-8BAC-85B13C02A1C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36675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AA7AC-C517-4689-7069-7370713C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CD64A-0927-1EE9-CD60-A363852DF8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EC4E3D-7FD7-FF4A-E73A-D1695FE86A8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91875D16-7A41-1FD1-A575-43400DE98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732" y="1026155"/>
            <a:ext cx="10112536" cy="458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5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66C1-66DE-E26B-FAF0-3E8927B5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68953-797D-1A98-ACD9-8530F6A6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27FD9B-6D9F-C02E-B764-82A3858AE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CQRS y nuestro contexto </a:t>
            </a:r>
            <a:r>
              <a:rPr lang="es-ES" b="1" dirty="0" err="1"/>
              <a:t>legacy</a:t>
            </a:r>
            <a:endParaRPr lang="es-ES" b="1" dirty="0"/>
          </a:p>
          <a:p>
            <a:pPr marL="0" indent="0">
              <a:buNone/>
            </a:pPr>
            <a:endParaRPr lang="es-ES" dirty="0"/>
          </a:p>
          <a:p>
            <a:pPr lvl="0"/>
            <a:r>
              <a:rPr lang="es-ES" dirty="0"/>
              <a:t>Escrituras:</a:t>
            </a:r>
          </a:p>
          <a:p>
            <a:pPr lvl="1"/>
            <a:r>
              <a:rPr lang="es-ES" dirty="0"/>
              <a:t>orientadas al </a:t>
            </a:r>
            <a:r>
              <a:rPr lang="es-ES" dirty="0" err="1"/>
              <a:t>backoffice</a:t>
            </a:r>
            <a:endParaRPr lang="es-ES" dirty="0"/>
          </a:p>
          <a:p>
            <a:pPr lvl="1"/>
            <a:r>
              <a:rPr lang="es-ES" dirty="0"/>
              <a:t>alineadas con reglas del dominio</a:t>
            </a:r>
          </a:p>
          <a:p>
            <a:pPr lvl="0"/>
            <a:r>
              <a:rPr lang="es-ES" dirty="0"/>
              <a:t>Lecturas:</a:t>
            </a:r>
          </a:p>
          <a:p>
            <a:pPr lvl="1"/>
            <a:r>
              <a:rPr lang="es-ES" dirty="0"/>
              <a:t>orientadas a la UI</a:t>
            </a:r>
          </a:p>
          <a:p>
            <a:pPr lvl="1"/>
            <a:r>
              <a:rPr lang="es-ES" dirty="0"/>
              <a:t>combinan datos del </a:t>
            </a:r>
            <a:r>
              <a:rPr lang="es-ES" dirty="0" err="1"/>
              <a:t>backoffice</a:t>
            </a:r>
            <a:r>
              <a:rPr lang="es-ES" dirty="0"/>
              <a:t> y </a:t>
            </a:r>
            <a:r>
              <a:rPr lang="es-ES" dirty="0" err="1"/>
              <a:t>frontoffice</a:t>
            </a:r>
            <a:endParaRPr lang="es-ES" dirty="0"/>
          </a:p>
          <a:p>
            <a:pPr lvl="0"/>
            <a:r>
              <a:rPr lang="es-ES" dirty="0"/>
              <a:t>Necesidad de </a:t>
            </a:r>
            <a:r>
              <a:rPr lang="es-ES" b="1" dirty="0"/>
              <a:t>modelos de lectura y escritura distintos</a:t>
            </a:r>
            <a:endParaRPr lang="es-ES" dirty="0"/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endParaRPr lang="es-ES" sz="2400" b="1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8973CE-F753-A41B-8BB5-67495A58C7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BE8EDE-8A4B-9863-1508-F76906454B3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64710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1D59-4B84-0426-680C-FCCDEAAA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BEA27-250A-4398-62A4-5F374FE4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EBF8D8-677B-C3DE-C7AE-3E52B1DD4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 err="1"/>
              <a:t>Refactor</a:t>
            </a:r>
            <a:r>
              <a:rPr lang="es-ES" b="1" dirty="0"/>
              <a:t> de los casos de uso con CQRS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b="1" dirty="0"/>
              <a:t>Antes (Tema 2):</a:t>
            </a:r>
            <a:endParaRPr lang="es-ES" dirty="0"/>
          </a:p>
          <a:p>
            <a:pPr lvl="1"/>
            <a:r>
              <a:rPr lang="es-ES" dirty="0" err="1"/>
              <a:t>GestionarXUseCase</a:t>
            </a:r>
            <a:endParaRPr lang="es-ES" dirty="0"/>
          </a:p>
          <a:p>
            <a:r>
              <a:rPr lang="es-ES" b="1" dirty="0"/>
              <a:t>Después (Tema 3):</a:t>
            </a:r>
            <a:endParaRPr lang="es-ES" dirty="0"/>
          </a:p>
          <a:p>
            <a:pPr lvl="1"/>
            <a:r>
              <a:rPr lang="es-ES" dirty="0" err="1"/>
              <a:t>CrearXCommandHandler</a:t>
            </a:r>
            <a:endParaRPr lang="es-ES" dirty="0"/>
          </a:p>
          <a:p>
            <a:pPr lvl="1"/>
            <a:r>
              <a:rPr lang="es-ES" dirty="0" err="1"/>
              <a:t>ActualizarXCommandHandler</a:t>
            </a:r>
            <a:endParaRPr lang="es-ES" dirty="0"/>
          </a:p>
          <a:p>
            <a:pPr lvl="1"/>
            <a:r>
              <a:rPr lang="es-ES" dirty="0" err="1"/>
              <a:t>CancelarXCommandHandler</a:t>
            </a:r>
            <a:endParaRPr lang="es-ES" dirty="0"/>
          </a:p>
          <a:p>
            <a:pPr lvl="1"/>
            <a:r>
              <a:rPr lang="es-ES" dirty="0" err="1"/>
              <a:t>ObtenerXQueryHandler</a:t>
            </a:r>
            <a:endParaRPr lang="es-ES" dirty="0"/>
          </a:p>
          <a:p>
            <a:pPr lvl="1"/>
            <a:r>
              <a:rPr lang="es-ES" dirty="0" err="1"/>
              <a:t>ListarXQueryHandler</a:t>
            </a:r>
            <a:endParaRPr lang="es-ES" dirty="0"/>
          </a:p>
          <a:p>
            <a:pPr marL="0" indent="0">
              <a:buNone/>
            </a:pP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F5E003-4C51-21F2-E3CA-88D8182495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4F8F43-3F8E-03C2-378C-888EEB6F420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64587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0AD0-62E5-C857-60C0-2DE2FB00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62298-4859-C606-D5BD-7B92FC88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AE750D-68BB-5E8B-6BA7-218245DC0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b="1" dirty="0" err="1"/>
              <a:t>Commands</a:t>
            </a:r>
            <a:endParaRPr lang="es-ES" b="1" dirty="0"/>
          </a:p>
          <a:p>
            <a:pPr marL="0" indent="0">
              <a:buNone/>
            </a:pPr>
            <a:endParaRPr lang="es-ES" dirty="0"/>
          </a:p>
          <a:p>
            <a:pPr lvl="0"/>
            <a:r>
              <a:rPr lang="es-ES" dirty="0"/>
              <a:t>Representan </a:t>
            </a:r>
            <a:r>
              <a:rPr lang="es-ES" b="1" dirty="0"/>
              <a:t>intenciones de cambio del usuario</a:t>
            </a:r>
            <a:endParaRPr lang="es-ES" dirty="0"/>
          </a:p>
          <a:p>
            <a:pPr lvl="0"/>
            <a:r>
              <a:rPr lang="es-ES" dirty="0"/>
              <a:t>Cambian el estado del dominio</a:t>
            </a:r>
          </a:p>
          <a:p>
            <a:pPr lvl="0"/>
            <a:r>
              <a:rPr lang="es-ES" dirty="0"/>
              <a:t>No están pensados para construir vistas</a:t>
            </a:r>
          </a:p>
          <a:p>
            <a:pPr lvl="0"/>
            <a:r>
              <a:rPr lang="es-ES" dirty="0"/>
              <a:t>Modelo enfocado a:</a:t>
            </a:r>
          </a:p>
          <a:p>
            <a:pPr lvl="1"/>
            <a:r>
              <a:rPr lang="es-ES" dirty="0"/>
              <a:t>validar reglas</a:t>
            </a:r>
          </a:p>
          <a:p>
            <a:pPr lvl="1"/>
            <a:r>
              <a:rPr lang="es-ES" dirty="0"/>
              <a:t>Ejecutar reglas de negocio (a través del dominio)</a:t>
            </a:r>
          </a:p>
          <a:p>
            <a:pPr lvl="1"/>
            <a:r>
              <a:rPr lang="es-ES" dirty="0"/>
              <a:t>expresar operaciones de negocio</a:t>
            </a:r>
          </a:p>
          <a:p>
            <a:r>
              <a:rPr lang="es-ES" dirty="0" err="1"/>
              <a:t>Command</a:t>
            </a:r>
            <a:r>
              <a:rPr lang="es-ES" dirty="0"/>
              <a:t> contiene los datos y filtros, el </a:t>
            </a:r>
            <a:r>
              <a:rPr lang="es-ES" dirty="0" err="1"/>
              <a:t>handler</a:t>
            </a:r>
            <a:r>
              <a:rPr lang="es-ES" dirty="0"/>
              <a:t> la funcionalidad</a:t>
            </a:r>
          </a:p>
          <a:p>
            <a:pPr marL="0" indent="0">
              <a:buNone/>
            </a:pP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D4DB2-F062-FBCD-3582-7E84B4DCF0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991DB8-5872-4581-532F-94CA6861AE5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50524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6FD2-33B0-CA71-0725-65DAB5D9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C1ABA-BBC5-FF9A-63B6-895A1172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28EEF3-8EA1-04E6-E64F-99F9B2BBF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ES" b="1" dirty="0" err="1"/>
              <a:t>Queries</a:t>
            </a:r>
            <a:br>
              <a:rPr lang="es-ES" sz="2400" dirty="0"/>
            </a:br>
            <a:endParaRPr lang="es-ES" sz="2400" dirty="0"/>
          </a:p>
          <a:p>
            <a:pPr lvl="0"/>
            <a:r>
              <a:rPr lang="es-ES" dirty="0"/>
              <a:t>Representan </a:t>
            </a:r>
            <a:r>
              <a:rPr lang="es-ES" b="1" dirty="0"/>
              <a:t>necesidades de información</a:t>
            </a:r>
            <a:endParaRPr lang="es-ES" dirty="0"/>
          </a:p>
          <a:p>
            <a:pPr lvl="0"/>
            <a:r>
              <a:rPr lang="es-ES" dirty="0"/>
              <a:t>No modifican estado</a:t>
            </a:r>
          </a:p>
          <a:p>
            <a:pPr lvl="0"/>
            <a:r>
              <a:rPr lang="es-ES" dirty="0"/>
              <a:t>Modelos (optimizados) para lectura</a:t>
            </a:r>
          </a:p>
          <a:p>
            <a:pPr lvl="0"/>
            <a:r>
              <a:rPr lang="es-ES" dirty="0"/>
              <a:t>Pueden combinar/componer distintas fuentes de datos</a:t>
            </a:r>
          </a:p>
          <a:p>
            <a:pPr lvl="0"/>
            <a:r>
              <a:rPr lang="es-ES" dirty="0"/>
              <a:t>Dominio como traductor de significado (No como motor de cambio)</a:t>
            </a:r>
          </a:p>
          <a:p>
            <a:r>
              <a:rPr lang="es-ES" dirty="0" err="1"/>
              <a:t>Query</a:t>
            </a:r>
            <a:r>
              <a:rPr lang="es-ES" dirty="0"/>
              <a:t> contiene los datos y filtros, el </a:t>
            </a:r>
            <a:r>
              <a:rPr lang="es-ES" dirty="0" err="1"/>
              <a:t>handler</a:t>
            </a:r>
            <a:r>
              <a:rPr lang="es-ES" dirty="0"/>
              <a:t> la funcionalidad</a:t>
            </a:r>
          </a:p>
          <a:p>
            <a:pPr lvl="0"/>
            <a:endParaRPr lang="es-ES" dirty="0"/>
          </a:p>
          <a:p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16DC98-D1AF-9DDA-2E5B-5B510D0B20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C9EA32-DB4B-BB08-C5E5-F86E3F32BDE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313693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EBE5-1947-1228-9A7B-9C0A36D9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078F6-D08F-083F-AACA-40501FF7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6CFB60-2879-5CCD-D1CE-B79A67A49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CQRS dentro de la arquitectura hexagonal</a:t>
            </a:r>
            <a:br>
              <a:rPr lang="es-ES" sz="2400" dirty="0"/>
            </a:br>
            <a:endParaRPr lang="es-ES" sz="2400" dirty="0"/>
          </a:p>
          <a:p>
            <a:pPr lvl="0"/>
            <a:r>
              <a:rPr lang="es-ES" dirty="0"/>
              <a:t>Adaptadores REST → </a:t>
            </a:r>
            <a:r>
              <a:rPr lang="es-ES" dirty="0" err="1"/>
              <a:t>Commands</a:t>
            </a:r>
            <a:r>
              <a:rPr lang="es-ES" dirty="0"/>
              <a:t> / </a:t>
            </a:r>
            <a:r>
              <a:rPr lang="es-ES" dirty="0" err="1"/>
              <a:t>Queries</a:t>
            </a:r>
            <a:endParaRPr lang="es-ES" dirty="0"/>
          </a:p>
          <a:p>
            <a:pPr lvl="0"/>
            <a:r>
              <a:rPr lang="es-ES" dirty="0"/>
              <a:t>Capa de aplicación:</a:t>
            </a:r>
          </a:p>
          <a:p>
            <a:pPr lvl="1"/>
            <a:r>
              <a:rPr lang="es-ES" dirty="0" err="1"/>
              <a:t>CommandHandlers</a:t>
            </a:r>
            <a:endParaRPr lang="es-ES" dirty="0"/>
          </a:p>
          <a:p>
            <a:pPr lvl="1"/>
            <a:r>
              <a:rPr lang="es-ES" dirty="0" err="1"/>
              <a:t>QueryHandlers</a:t>
            </a:r>
            <a:endParaRPr lang="es-ES" dirty="0"/>
          </a:p>
          <a:p>
            <a:pPr lvl="0"/>
            <a:r>
              <a:rPr lang="es-ES" dirty="0"/>
              <a:t>Dominio:</a:t>
            </a:r>
          </a:p>
          <a:p>
            <a:pPr lvl="1"/>
            <a:r>
              <a:rPr lang="es-ES" dirty="0"/>
              <a:t>utilizado por ambos</a:t>
            </a:r>
          </a:p>
          <a:p>
            <a:pPr lvl="0"/>
            <a:r>
              <a:rPr lang="es-ES" dirty="0"/>
              <a:t>Repositorios:</a:t>
            </a:r>
          </a:p>
          <a:p>
            <a:pPr lvl="1"/>
            <a:r>
              <a:rPr lang="es-ES" dirty="0"/>
              <a:t>conceptualmente separados para lectura y escritura</a:t>
            </a: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7071FF-0004-0E90-686E-3AC8165478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8B934-253F-CE2F-105A-7332759DF8A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377903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FEA2-6718-93F6-21CD-45557C42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78CD4-766C-C674-E2D6-8DD031EEF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D60F1D-EFD0-D644-FF47-A29BED9FA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Estructura actual</a:t>
            </a:r>
            <a:br>
              <a:rPr lang="es-ES" sz="2400" dirty="0"/>
            </a:br>
            <a:endParaRPr lang="es-ES" sz="2400" dirty="0"/>
          </a:p>
          <a:p>
            <a:pPr marL="0" indent="0" algn="ctr">
              <a:buNone/>
            </a:pPr>
            <a:r>
              <a:rPr lang="es-ES" dirty="0" err="1">
                <a:solidFill>
                  <a:schemeClr val="accent4"/>
                </a:solidFill>
              </a:rPr>
              <a:t>es.um.atica</a:t>
            </a:r>
            <a:r>
              <a:rPr lang="es-ES" dirty="0">
                <a:solidFill>
                  <a:schemeClr val="accent4"/>
                </a:solidFill>
              </a:rPr>
              <a:t>.[GROUP].[CONTEXT].</a:t>
            </a:r>
            <a:r>
              <a:rPr lang="es-ES" dirty="0" err="1">
                <a:solidFill>
                  <a:schemeClr val="accent4"/>
                </a:solidFill>
              </a:rPr>
              <a:t>application.usercase</a:t>
            </a:r>
            <a:r>
              <a:rPr lang="es-ES" dirty="0">
                <a:solidFill>
                  <a:schemeClr val="accent4"/>
                </a:solidFill>
              </a:rPr>
              <a:t>.[CASOS]</a:t>
            </a:r>
          </a:p>
          <a:p>
            <a:pPr marL="0" indent="0" algn="ctr">
              <a:buNone/>
            </a:pPr>
            <a:r>
              <a:rPr lang="es-ES" dirty="0">
                <a:solidFill>
                  <a:schemeClr val="accent4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s-ES" dirty="0" err="1">
                <a:solidFill>
                  <a:schemeClr val="accent4"/>
                </a:solidFill>
              </a:rPr>
              <a:t>es.um.atica</a:t>
            </a:r>
            <a:r>
              <a:rPr lang="es-ES" dirty="0">
                <a:solidFill>
                  <a:schemeClr val="accent4"/>
                </a:solidFill>
              </a:rPr>
              <a:t>.[GROUP].[CONTEXT].</a:t>
            </a:r>
            <a:r>
              <a:rPr lang="es-ES" dirty="0" err="1">
                <a:solidFill>
                  <a:schemeClr val="accent4"/>
                </a:solidFill>
              </a:rPr>
              <a:t>application.usercase</a:t>
            </a:r>
            <a:r>
              <a:rPr lang="es-ES" dirty="0">
                <a:solidFill>
                  <a:schemeClr val="accent4"/>
                </a:solidFill>
              </a:rPr>
              <a:t>.[CASO_CONCRETO]</a:t>
            </a:r>
          </a:p>
          <a:p>
            <a:pPr marL="0" indent="0">
              <a:buNone/>
            </a:pPr>
            <a:r>
              <a:rPr lang="es-ES" dirty="0"/>
              <a:t>Por ejemplo:</a:t>
            </a:r>
          </a:p>
          <a:p>
            <a:pPr marL="0" indent="0" algn="ctr">
              <a:buNone/>
            </a:pPr>
            <a:r>
              <a:rPr lang="es-ES" dirty="0" err="1">
                <a:solidFill>
                  <a:srgbClr val="FF0000"/>
                </a:solidFill>
              </a:rPr>
              <a:t>es.um.atica.umufly.vuelos.application.usercase.vuelos</a:t>
            </a:r>
            <a:endParaRPr lang="es-E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s-ES" dirty="0">
                <a:solidFill>
                  <a:srgbClr val="FF000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s-ES" dirty="0" err="1">
                <a:solidFill>
                  <a:srgbClr val="FF0000"/>
                </a:solidFill>
              </a:rPr>
              <a:t>es.um.atica.umufly.vuelos.application.usercase.obtenervuelos</a:t>
            </a:r>
            <a:endParaRPr lang="es-E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s-ES" dirty="0" err="1">
                <a:solidFill>
                  <a:srgbClr val="FF0000"/>
                </a:solidFill>
              </a:rPr>
              <a:t>es.um.atica.umufly.vuelos.application.usercase.listarvuelos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840DF4-1C3D-CB64-777D-FF2DA20EB2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32E77F-1127-2DFB-2CAB-8F525D71D49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978340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1F6A-57C8-E48F-5FD0-0805E90D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B251E-E29C-E4AB-7639-16DBF292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03F89D-6733-B97F-6FEB-D43B93923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Beneficios reales que obtenemos</a:t>
            </a:r>
            <a:br>
              <a:rPr lang="es-ES" sz="2400" dirty="0"/>
            </a:br>
            <a:endParaRPr lang="es-ES" sz="2400" dirty="0"/>
          </a:p>
          <a:p>
            <a:pPr lvl="0"/>
            <a:r>
              <a:rPr lang="es-ES" dirty="0"/>
              <a:t>Casos de uso más pequeños</a:t>
            </a:r>
          </a:p>
          <a:p>
            <a:pPr lvl="0"/>
            <a:r>
              <a:rPr lang="es-ES" dirty="0"/>
              <a:t>Modelos más expresivos</a:t>
            </a:r>
          </a:p>
          <a:p>
            <a:pPr lvl="0"/>
            <a:r>
              <a:rPr lang="es-ES" dirty="0"/>
              <a:t>Lecturas optimizadas para consumo</a:t>
            </a:r>
          </a:p>
          <a:p>
            <a:pPr lvl="0"/>
            <a:r>
              <a:rPr lang="es-ES" dirty="0"/>
              <a:t>Escrituras alineadas con reglas de negocio</a:t>
            </a:r>
          </a:p>
          <a:p>
            <a:pPr lvl="0"/>
            <a:r>
              <a:rPr lang="es-ES" dirty="0"/>
              <a:t>Mejor encaje con </a:t>
            </a:r>
            <a:r>
              <a:rPr lang="es-ES" dirty="0" err="1"/>
              <a:t>legacy</a:t>
            </a:r>
            <a:r>
              <a:rPr lang="es-ES" dirty="0"/>
              <a:t> como fuente de verdad</a:t>
            </a: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312C5-E501-1E45-1570-82DF7AAF47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031882-EEA9-D9D7-E705-F9CCAAAF308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334237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80DF-A919-0FC7-028D-74950DD4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5048D-F1B1-3AF8-D0EE-00B0A4E49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53DA51-F78F-2D00-F763-9EB88BE58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Errores comunes al aplicar CQRS</a:t>
            </a:r>
            <a:br>
              <a:rPr lang="es-ES" sz="2400" dirty="0"/>
            </a:br>
            <a:endParaRPr lang="es-ES" sz="2400" dirty="0"/>
          </a:p>
          <a:p>
            <a:pPr lvl="0"/>
            <a:r>
              <a:rPr lang="es-ES" dirty="0"/>
              <a:t>Usar el mismo DTO para </a:t>
            </a:r>
            <a:r>
              <a:rPr lang="es-ES" dirty="0" err="1"/>
              <a:t>Command</a:t>
            </a:r>
            <a:r>
              <a:rPr lang="es-ES" dirty="0"/>
              <a:t> y </a:t>
            </a:r>
            <a:r>
              <a:rPr lang="es-ES" dirty="0" err="1"/>
              <a:t>Query</a:t>
            </a:r>
            <a:endParaRPr lang="es-ES" dirty="0"/>
          </a:p>
          <a:p>
            <a:pPr lvl="0"/>
            <a:r>
              <a:rPr lang="es-ES" dirty="0"/>
              <a:t>Reutilizar el mismo modelo para todo</a:t>
            </a:r>
          </a:p>
          <a:p>
            <a:pPr lvl="0"/>
            <a:r>
              <a:rPr lang="es-ES" dirty="0"/>
              <a:t>Introducir CQRS sin una necesidad real</a:t>
            </a:r>
          </a:p>
          <a:p>
            <a:pPr lvl="0"/>
            <a:r>
              <a:rPr lang="es-ES" dirty="0"/>
              <a:t>Pensar que CQRS es duplicar bases de datos</a:t>
            </a:r>
          </a:p>
          <a:p>
            <a:pPr lvl="0"/>
            <a:r>
              <a:rPr lang="es-ES" dirty="0" err="1"/>
              <a:t>Controllers</a:t>
            </a:r>
            <a:r>
              <a:rPr lang="es-ES" dirty="0"/>
              <a:t> con lógica de negocio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6AB31-1311-6AA9-4AED-C137BD1EB3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73C5A-07D1-90CD-8BD2-81173D442C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4054348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7C67-DC7C-B972-6A39-9526E92E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38AB8-E585-C796-D194-55430CD86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A3A87-4D84-E665-A4B3-D79E1B334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CQRS + DDD + Hexagonal (visión global)</a:t>
            </a:r>
            <a:br>
              <a:rPr lang="es-ES" sz="2400" dirty="0"/>
            </a:br>
            <a:endParaRPr lang="es-ES" sz="2400" dirty="0"/>
          </a:p>
          <a:p>
            <a:pPr lvl="0"/>
            <a:r>
              <a:rPr lang="es-ES" b="1" dirty="0"/>
              <a:t>DDD</a:t>
            </a:r>
            <a:r>
              <a:rPr lang="es-ES" dirty="0"/>
              <a:t> define el modelo del dominio</a:t>
            </a:r>
          </a:p>
          <a:p>
            <a:pPr lvl="0"/>
            <a:r>
              <a:rPr lang="es-ES" b="1" dirty="0"/>
              <a:t>Arquitectura Hexagonal</a:t>
            </a:r>
            <a:r>
              <a:rPr lang="es-ES" dirty="0"/>
              <a:t> protege ese dominio</a:t>
            </a:r>
          </a:p>
          <a:p>
            <a:pPr lvl="0"/>
            <a:r>
              <a:rPr lang="es-ES" b="1" dirty="0"/>
              <a:t>CQRS</a:t>
            </a:r>
            <a:r>
              <a:rPr lang="es-ES" dirty="0"/>
              <a:t> estructura los casos de uso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Mensaje clave:</a:t>
            </a:r>
            <a:br>
              <a:rPr lang="es-ES" dirty="0"/>
            </a:br>
            <a:r>
              <a:rPr lang="es-ES" dirty="0"/>
              <a:t>Tres piezas, un mismo objetivo: mantener la lógica de negocio clara, protegida y evolutiva.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D26D8-BD34-C0FF-65BF-2ABA0DAF1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E3F2C6-690D-AAF9-2B8A-A6A3D9A1546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008921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777D-6C02-0100-D894-B54E3AE3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149EC-467C-D87A-0515-C52D7F45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0C4D38-FCC2-9E50-D3DC-17E4B237F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b="1" dirty="0"/>
              <a:t>RECORDEMOS: CQRS en nuestra arquitectura (visión de alto nivel)</a:t>
            </a:r>
            <a:br>
              <a:rPr lang="es-ES" sz="2400" dirty="0"/>
            </a:br>
            <a:endParaRPr lang="es-ES" sz="2400" dirty="0"/>
          </a:p>
          <a:p>
            <a:pPr marL="0" indent="0">
              <a:buNone/>
            </a:pPr>
            <a:r>
              <a:rPr lang="es-ES" dirty="0"/>
              <a:t>REST</a:t>
            </a:r>
          </a:p>
          <a:p>
            <a:pPr marL="0" indent="0">
              <a:buNone/>
            </a:pPr>
            <a:r>
              <a:rPr lang="es-ES" dirty="0"/>
              <a:t>  ↓</a:t>
            </a:r>
          </a:p>
          <a:p>
            <a:pPr marL="0" indent="0">
              <a:buNone/>
            </a:pPr>
            <a:r>
              <a:rPr lang="es-ES" dirty="0" err="1"/>
              <a:t>Command</a:t>
            </a:r>
            <a:r>
              <a:rPr lang="es-ES" dirty="0"/>
              <a:t> / </a:t>
            </a:r>
            <a:r>
              <a:rPr lang="es-ES" dirty="0" err="1"/>
              <a:t>Query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↓</a:t>
            </a:r>
          </a:p>
          <a:p>
            <a:pPr marL="0" indent="0">
              <a:buNone/>
            </a:pPr>
            <a:r>
              <a:rPr lang="es-ES" dirty="0" err="1"/>
              <a:t>Application</a:t>
            </a:r>
            <a:r>
              <a:rPr lang="es-ES" dirty="0"/>
              <a:t> (</a:t>
            </a:r>
            <a:r>
              <a:rPr lang="es-ES" dirty="0" err="1"/>
              <a:t>Handlers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  ↓</a:t>
            </a:r>
          </a:p>
          <a:p>
            <a:pPr marL="0" indent="0">
              <a:buNone/>
            </a:pPr>
            <a:r>
              <a:rPr lang="es-ES" dirty="0" err="1"/>
              <a:t>Domain</a:t>
            </a:r>
            <a:r>
              <a:rPr lang="es-ES" dirty="0"/>
              <a:t> (reglas de negocio)</a:t>
            </a:r>
          </a:p>
          <a:p>
            <a:pPr marL="0" indent="0">
              <a:buNone/>
            </a:pPr>
            <a:r>
              <a:rPr lang="es-ES" dirty="0"/>
              <a:t>  ↓</a:t>
            </a:r>
          </a:p>
          <a:p>
            <a:pPr marL="0" indent="0">
              <a:buNone/>
            </a:pPr>
            <a:r>
              <a:rPr lang="es-ES" dirty="0" err="1"/>
              <a:t>Legacy</a:t>
            </a:r>
            <a:r>
              <a:rPr lang="es-ES" dirty="0"/>
              <a:t> / </a:t>
            </a:r>
            <a:r>
              <a:rPr lang="es-ES" dirty="0" err="1"/>
              <a:t>Backoffice</a:t>
            </a:r>
            <a:r>
              <a:rPr lang="es-ES" dirty="0"/>
              <a:t> (fuente de verdad)</a:t>
            </a:r>
          </a:p>
          <a:p>
            <a:pPr marL="0" indent="0">
              <a:buNone/>
            </a:pPr>
            <a:r>
              <a:rPr lang="es-ES" dirty="0"/>
              <a:t>  ↓</a:t>
            </a:r>
          </a:p>
          <a:p>
            <a:pPr marL="0" indent="0">
              <a:buNone/>
            </a:pPr>
            <a:r>
              <a:rPr lang="es-ES" dirty="0"/>
              <a:t>Proyecciones </a:t>
            </a:r>
            <a:r>
              <a:rPr lang="es-ES" dirty="0" err="1"/>
              <a:t>FrontOffice</a:t>
            </a:r>
            <a:r>
              <a:rPr lang="es-ES" dirty="0"/>
              <a:t> (lecturas)</a:t>
            </a:r>
          </a:p>
          <a:p>
            <a:pPr lvl="0"/>
            <a:r>
              <a:rPr lang="es-ES" dirty="0"/>
              <a:t>Lecturas desde proyecciones y datos auxiliares</a:t>
            </a:r>
          </a:p>
          <a:p>
            <a:pPr lvl="0"/>
            <a:r>
              <a:rPr lang="es-ES" dirty="0"/>
              <a:t>Escrituras alineadas con </a:t>
            </a:r>
            <a:r>
              <a:rPr lang="es-ES" dirty="0" err="1"/>
              <a:t>backoffice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7F623-A1F7-2ABF-DAB6-DCD954D9C0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5EAA05-BC1E-2757-70DE-6B2D70F497B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645603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4115-C628-D33A-98D8-2DF128BB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4BB88-0B78-BF31-1521-D3B4F30C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1B5FD7-B4CE-3384-FF6A-29BFC0107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Puente hacia el Tema 4</a:t>
            </a:r>
            <a:br>
              <a:rPr lang="es-ES" sz="2400" dirty="0"/>
            </a:br>
            <a:endParaRPr lang="es-ES" sz="2400" dirty="0"/>
          </a:p>
          <a:p>
            <a:pPr lvl="0"/>
            <a:r>
              <a:rPr lang="es-ES" dirty="0"/>
              <a:t>CQRS separa responsabilidades</a:t>
            </a:r>
          </a:p>
          <a:p>
            <a:pPr lvl="0"/>
            <a:r>
              <a:rPr lang="es-ES" dirty="0"/>
              <a:t>Aún existe acoplamiento temporal</a:t>
            </a:r>
          </a:p>
          <a:p>
            <a:pPr lvl="0"/>
            <a:r>
              <a:rPr lang="es-ES" dirty="0"/>
              <a:t>Siguiente paso:</a:t>
            </a:r>
          </a:p>
          <a:p>
            <a:pPr lvl="1"/>
            <a:r>
              <a:rPr lang="es-ES" dirty="0"/>
              <a:t>desacoplar reacciones</a:t>
            </a:r>
          </a:p>
          <a:p>
            <a:pPr lvl="1"/>
            <a:r>
              <a:rPr lang="es-ES" dirty="0"/>
              <a:t>permitir que el sistema evolucione sin dependencias directas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A6B7A6-5EB8-1F54-F5F1-C4FD1F35D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13882D-0370-D419-F246-E1972C5308E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965448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97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618D-FADE-81A9-931E-EEB81D90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921E9-58C0-3C32-707C-B9E40D7E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CB281-1EBC-0B6F-F622-F90E1E3C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Apéndice 1: UMUBUS - ¿Qué es? ¿Para que la usamos?</a:t>
            </a:r>
            <a:br>
              <a:rPr lang="es-ES" sz="2400" dirty="0"/>
            </a:br>
            <a:endParaRPr lang="es-ES" sz="2400" dirty="0"/>
          </a:p>
          <a:p>
            <a:r>
              <a:rPr lang="es-ES" dirty="0"/>
              <a:t>Librería interna para implementar:</a:t>
            </a:r>
          </a:p>
          <a:p>
            <a:pPr lvl="1"/>
            <a:r>
              <a:rPr lang="es-ES" dirty="0"/>
              <a:t>CQRS (</a:t>
            </a:r>
            <a:r>
              <a:rPr lang="es-ES" dirty="0" err="1"/>
              <a:t>Commands</a:t>
            </a:r>
            <a:r>
              <a:rPr lang="es-ES" dirty="0"/>
              <a:t> / </a:t>
            </a:r>
            <a:r>
              <a:rPr lang="es-ES" dirty="0" err="1"/>
              <a:t>Queries</a:t>
            </a:r>
            <a:r>
              <a:rPr lang="es-ES" dirty="0"/>
              <a:t> / </a:t>
            </a:r>
            <a:r>
              <a:rPr lang="es-ES" dirty="0" err="1"/>
              <a:t>Handlers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Arquitecturas basadas en mensajes (eventos)</a:t>
            </a:r>
          </a:p>
          <a:p>
            <a:r>
              <a:rPr lang="es-ES" dirty="0"/>
              <a:t>Estándar común en los proyectos </a:t>
            </a:r>
            <a:r>
              <a:rPr lang="es-ES" dirty="0" err="1"/>
              <a:t>backend</a:t>
            </a:r>
            <a:r>
              <a:rPr lang="es-ES" dirty="0"/>
              <a:t> de la universidad</a:t>
            </a:r>
          </a:p>
          <a:p>
            <a:r>
              <a:rPr lang="es-ES" dirty="0"/>
              <a:t>Nos permite:</a:t>
            </a:r>
          </a:p>
          <a:p>
            <a:pPr lvl="1"/>
            <a:r>
              <a:rPr lang="es-ES" dirty="0"/>
              <a:t>Unificar cómo definimos casos de uso (</a:t>
            </a:r>
            <a:r>
              <a:rPr lang="es-ES" dirty="0" err="1"/>
              <a:t>Query</a:t>
            </a:r>
            <a:r>
              <a:rPr lang="es-ES" dirty="0"/>
              <a:t>/</a:t>
            </a:r>
            <a:r>
              <a:rPr lang="es-ES" dirty="0" err="1"/>
              <a:t>Command</a:t>
            </a:r>
            <a:r>
              <a:rPr lang="es-ES" dirty="0"/>
              <a:t> y </a:t>
            </a:r>
            <a:r>
              <a:rPr lang="es-ES" dirty="0" err="1"/>
              <a:t>Handlers</a:t>
            </a:r>
            <a:r>
              <a:rPr lang="es-ES" dirty="0"/>
              <a:t>)</a:t>
            </a:r>
          </a:p>
          <a:p>
            <a:pPr lvl="1"/>
            <a:r>
              <a:rPr lang="es-ES" strike="sngStrike" dirty="0"/>
              <a:t>Desacoplar controladores de la lógica de aplicación (</a:t>
            </a:r>
            <a:r>
              <a:rPr lang="es-ES" strike="sngStrike" dirty="0" err="1"/>
              <a:t>QueryBus</a:t>
            </a:r>
            <a:r>
              <a:rPr lang="es-ES" strike="sngStrike" dirty="0"/>
              <a:t>/</a:t>
            </a:r>
            <a:r>
              <a:rPr lang="es-ES" strike="sngStrike" dirty="0" err="1"/>
              <a:t>CommandBus</a:t>
            </a:r>
            <a:r>
              <a:rPr lang="es-ES" strike="sngStrike" dirty="0"/>
              <a:t>)</a:t>
            </a:r>
            <a:r>
              <a:rPr lang="es-ES" dirty="0"/>
              <a:t> -&gt; En el siguiente tema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14977-AB59-8094-D1F1-841454E0B5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10556-C0CE-1DBF-1FA7-23AE8A90BC1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477620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7846-7817-0F3B-D62A-576F0854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180B9-4443-2A35-9E3C-BA2AD237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DADE13-F42B-2555-DC50-F6BC68C7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Apéndice 1: UMUBUS - UMUBUS + DDD + Hexagonal + CQRS</a:t>
            </a:r>
            <a:endParaRPr lang="es-ES" sz="2400" dirty="0"/>
          </a:p>
          <a:p>
            <a:pPr lvl="0"/>
            <a:endParaRPr lang="es-ES" b="1" dirty="0"/>
          </a:p>
          <a:p>
            <a:pPr lvl="0"/>
            <a:r>
              <a:rPr lang="es-ES" b="1" dirty="0"/>
              <a:t>DDD</a:t>
            </a:r>
            <a:r>
              <a:rPr lang="es-ES" dirty="0"/>
              <a:t> → modelo del dominio</a:t>
            </a:r>
          </a:p>
          <a:p>
            <a:pPr lvl="0"/>
            <a:r>
              <a:rPr lang="es-ES" b="1" dirty="0"/>
              <a:t>Hexagonal </a:t>
            </a:r>
            <a:r>
              <a:rPr lang="es-ES" dirty="0"/>
              <a:t>→ puertos y adaptadores</a:t>
            </a:r>
          </a:p>
          <a:p>
            <a:pPr lvl="0"/>
            <a:r>
              <a:rPr lang="es-ES" b="1" dirty="0"/>
              <a:t>CQRS</a:t>
            </a:r>
            <a:r>
              <a:rPr lang="es-ES" dirty="0"/>
              <a:t> → separación de lectura/escritura</a:t>
            </a:r>
          </a:p>
          <a:p>
            <a:pPr lvl="0"/>
            <a:r>
              <a:rPr lang="es-ES" b="1" dirty="0">
                <a:solidFill>
                  <a:srgbClr val="FF0000"/>
                </a:solidFill>
              </a:rPr>
              <a:t>UMUBUS</a:t>
            </a:r>
            <a:r>
              <a:rPr lang="es-ES" dirty="0">
                <a:solidFill>
                  <a:srgbClr val="FF0000"/>
                </a:solidFill>
              </a:rPr>
              <a:t> → infraestructura para </a:t>
            </a:r>
            <a:r>
              <a:rPr lang="es-ES" dirty="0" err="1">
                <a:solidFill>
                  <a:srgbClr val="FF0000"/>
                </a:solidFill>
              </a:rPr>
              <a:t>Commands</a:t>
            </a:r>
            <a:r>
              <a:rPr lang="es-ES" dirty="0">
                <a:solidFill>
                  <a:srgbClr val="FF0000"/>
                </a:solidFill>
              </a:rPr>
              <a:t>, </a:t>
            </a:r>
            <a:r>
              <a:rPr lang="es-ES" dirty="0" err="1">
                <a:solidFill>
                  <a:srgbClr val="FF0000"/>
                </a:solidFill>
              </a:rPr>
              <a:t>Queries</a:t>
            </a:r>
            <a:r>
              <a:rPr lang="es-ES" dirty="0">
                <a:solidFill>
                  <a:srgbClr val="FF0000"/>
                </a:solidFill>
              </a:rPr>
              <a:t> y </a:t>
            </a:r>
            <a:r>
              <a:rPr lang="es-ES" dirty="0" err="1">
                <a:solidFill>
                  <a:srgbClr val="FF0000"/>
                </a:solidFill>
              </a:rPr>
              <a:t>Handlers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EA768-C9C6-1637-C879-CD1903148A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39B110-D289-FB12-E5B9-B17530E3B68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848688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7F9B-F73E-70D7-AB1E-A96D133D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A5F0F-BB55-4149-7284-2C29D4C0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E83750-A849-A0EE-867C-1EE233234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/>
              <a:t>Apéndice 1: UMUBUS - Componentes</a:t>
            </a:r>
            <a:endParaRPr lang="es-ES" sz="2400" dirty="0"/>
          </a:p>
          <a:p>
            <a:pPr lvl="0"/>
            <a:endParaRPr lang="es-ES" b="1" dirty="0"/>
          </a:p>
          <a:p>
            <a:pPr lvl="0"/>
            <a:r>
              <a:rPr lang="es-ES" b="1" dirty="0" err="1"/>
              <a:t>Command</a:t>
            </a:r>
            <a:endParaRPr lang="es-ES" dirty="0"/>
          </a:p>
          <a:p>
            <a:pPr lvl="1"/>
            <a:r>
              <a:rPr lang="es-ES" dirty="0"/>
              <a:t>Command.java, SyncCommand.java</a:t>
            </a:r>
          </a:p>
          <a:p>
            <a:pPr lvl="0"/>
            <a:r>
              <a:rPr lang="es-ES" b="1" dirty="0" err="1"/>
              <a:t>Query</a:t>
            </a:r>
            <a:endParaRPr lang="es-ES" dirty="0"/>
          </a:p>
          <a:p>
            <a:pPr lvl="1"/>
            <a:r>
              <a:rPr lang="es-ES" dirty="0"/>
              <a:t>Query.java</a:t>
            </a:r>
          </a:p>
          <a:p>
            <a:pPr lvl="0"/>
            <a:r>
              <a:rPr lang="es-ES" b="1" dirty="0" err="1"/>
              <a:t>CommandHandler</a:t>
            </a:r>
            <a:endParaRPr lang="es-ES" dirty="0"/>
          </a:p>
          <a:p>
            <a:pPr lvl="1"/>
            <a:r>
              <a:rPr lang="es-ES" dirty="0"/>
              <a:t>CommandHandler.java: Ejecuta un </a:t>
            </a:r>
            <a:r>
              <a:rPr lang="es-ES" dirty="0" err="1"/>
              <a:t>Command</a:t>
            </a:r>
            <a:endParaRPr lang="es-ES" dirty="0"/>
          </a:p>
          <a:p>
            <a:pPr lvl="0"/>
            <a:r>
              <a:rPr lang="es-ES" b="1" dirty="0" err="1"/>
              <a:t>QueryHandler</a:t>
            </a:r>
            <a:endParaRPr lang="es-ES" dirty="0"/>
          </a:p>
          <a:p>
            <a:pPr lvl="1"/>
            <a:r>
              <a:rPr lang="es-ES" dirty="0"/>
              <a:t>QueryHandler.java: Ejecuta una </a:t>
            </a:r>
            <a:r>
              <a:rPr lang="es-ES" dirty="0" err="1"/>
              <a:t>Query</a:t>
            </a:r>
            <a:endParaRPr lang="es-ES" dirty="0"/>
          </a:p>
          <a:p>
            <a:pPr lvl="0"/>
            <a:r>
              <a:rPr lang="es-ES" b="1" dirty="0" err="1"/>
              <a:t>CommandBus</a:t>
            </a:r>
            <a:r>
              <a:rPr lang="es-ES" b="1" dirty="0"/>
              <a:t> / </a:t>
            </a:r>
            <a:r>
              <a:rPr lang="es-ES" b="1" dirty="0" err="1"/>
              <a:t>QueryBus</a:t>
            </a:r>
            <a:r>
              <a:rPr lang="es-ES" b="1" dirty="0"/>
              <a:t> </a:t>
            </a:r>
            <a:r>
              <a:rPr lang="es-ES" dirty="0"/>
              <a:t>(Tema 4)</a:t>
            </a:r>
          </a:p>
          <a:p>
            <a:pPr lvl="1"/>
            <a:r>
              <a:rPr lang="es-ES" dirty="0"/>
              <a:t>CommandBus.java, SyncCommandBus.java, QueryBus.java: Capa de despacho de </a:t>
            </a:r>
            <a:r>
              <a:rPr lang="es-ES" dirty="0" err="1"/>
              <a:t>Commands</a:t>
            </a:r>
            <a:r>
              <a:rPr lang="es-ES" dirty="0"/>
              <a:t>/</a:t>
            </a:r>
            <a:r>
              <a:rPr lang="es-ES" dirty="0" err="1"/>
              <a:t>Queries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77A1BF-AB82-33EB-2D67-D8AD3BEF29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4FDD3F-EBD8-7707-EC36-5DC00219EFF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345691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C01D-37DD-59F1-3855-D3869634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608A3-C974-586E-834B-AA9F3BD9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F6A0AA-189C-5340-8B53-27F8FD742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Apéndice 1: UMUBUS - Flujo</a:t>
            </a:r>
            <a:endParaRPr lang="es-ES" sz="2400" dirty="0"/>
          </a:p>
          <a:p>
            <a:pPr lvl="0"/>
            <a:endParaRPr lang="es-ES" b="1" dirty="0"/>
          </a:p>
          <a:p>
            <a:pPr lvl="0"/>
            <a:r>
              <a:rPr lang="es-ES" dirty="0" err="1"/>
              <a:t>Controller</a:t>
            </a:r>
            <a:r>
              <a:rPr lang="es-ES" dirty="0"/>
              <a:t> REST recibe petición HTTP</a:t>
            </a:r>
          </a:p>
          <a:p>
            <a:pPr lvl="0"/>
            <a:r>
              <a:rPr lang="es-ES" dirty="0"/>
              <a:t>Se construye un </a:t>
            </a:r>
            <a:r>
              <a:rPr lang="es-ES" dirty="0" err="1"/>
              <a:t>Command</a:t>
            </a:r>
            <a:r>
              <a:rPr lang="es-ES" dirty="0"/>
              <a:t> o </a:t>
            </a:r>
            <a:r>
              <a:rPr lang="es-ES" dirty="0" err="1"/>
              <a:t>Query</a:t>
            </a:r>
            <a:endParaRPr lang="es-ES" dirty="0"/>
          </a:p>
          <a:p>
            <a:pPr lvl="0"/>
            <a:r>
              <a:rPr lang="es-ES" dirty="0"/>
              <a:t>Se delega en el </a:t>
            </a:r>
            <a:r>
              <a:rPr lang="es-ES" dirty="0" err="1"/>
              <a:t>Handler</a:t>
            </a:r>
            <a:r>
              <a:rPr lang="es-ES" dirty="0"/>
              <a:t> (o Bus)</a:t>
            </a:r>
          </a:p>
          <a:p>
            <a:pPr lvl="0"/>
            <a:r>
              <a:rPr lang="es-ES" dirty="0"/>
              <a:t>El </a:t>
            </a:r>
            <a:r>
              <a:rPr lang="es-ES" dirty="0" err="1"/>
              <a:t>Handler</a:t>
            </a:r>
            <a:r>
              <a:rPr lang="es-ES" dirty="0"/>
              <a:t>, </a:t>
            </a:r>
            <a:r>
              <a:rPr lang="es-ES" b="1" dirty="0"/>
              <a:t>orquesta</a:t>
            </a:r>
            <a:r>
              <a:rPr lang="es-ES" dirty="0"/>
              <a:t> la operación:</a:t>
            </a:r>
          </a:p>
          <a:p>
            <a:pPr lvl="1"/>
            <a:r>
              <a:rPr lang="es-ES" dirty="0"/>
              <a:t>Llama al dominio</a:t>
            </a:r>
          </a:p>
          <a:p>
            <a:pPr lvl="1"/>
            <a:r>
              <a:rPr lang="es-ES" dirty="0"/>
              <a:t>Usa puertos de aplicación</a:t>
            </a:r>
          </a:p>
          <a:p>
            <a:pPr lvl="0"/>
            <a:r>
              <a:rPr lang="es-ES" dirty="0"/>
              <a:t>Se devuelve el resultado al </a:t>
            </a:r>
            <a:r>
              <a:rPr lang="es-ES" dirty="0" err="1"/>
              <a:t>controller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E4FE-0187-9C13-CD44-7947A7C3B1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FB35A5-5A0D-1759-D63E-788702F8477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98961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FA53-2852-8598-555F-5454E7FB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1492E-AE29-5DC3-F3DC-D9F9EDC1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9CF109-33E8-88DB-264D-15037F915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b="1" dirty="0"/>
              <a:t>Apéndice 1: UMUBUS – Incluir la librería</a:t>
            </a:r>
          </a:p>
          <a:p>
            <a:pPr marL="0" indent="0">
              <a:buNone/>
            </a:pPr>
            <a:endParaRPr lang="es-ES" sz="2400" dirty="0"/>
          </a:p>
          <a:p>
            <a:r>
              <a:rPr lang="es-ES" b="1" dirty="0"/>
              <a:t>Dependencia en pom.xml</a:t>
            </a:r>
          </a:p>
          <a:p>
            <a:pPr marL="0" indent="0">
              <a:buNone/>
            </a:pPr>
            <a:r>
              <a:rPr lang="es-ES" sz="280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dirty="0" err="1">
                <a:solidFill>
                  <a:srgbClr val="0000FF"/>
                </a:solidFill>
                <a:highlight>
                  <a:srgbClr val="FFFFFF"/>
                </a:highlight>
              </a:rPr>
              <a:t>repositories</a:t>
            </a:r>
            <a:r>
              <a:rPr lang="es-ES" sz="280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repository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&lt;id&gt;</a:t>
            </a: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fundewebjs.archiva.atica.umu.es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&lt;/id&gt;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n-U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&lt;name&gt;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ATICA - UMU Repository - 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FFFFFF"/>
                </a:highlight>
              </a:rPr>
              <a:t>FundeWebJS</a:t>
            </a:r>
            <a:r>
              <a:rPr lang="en-U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&lt;/name&gt;</a:t>
            </a:r>
            <a:endParaRPr lang="en-U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url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https://archiva.um.es/archiva/repository/FundeWebJS/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&lt;/url&gt;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releases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enabled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true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enabled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releases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snapshots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enabled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true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enabled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snapshots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	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repository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repositories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b="1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FDA660-FC2E-A913-03F3-AA0BF074CA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24EC7B-72B1-E00E-EB96-65FBD9CCE5A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3928291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0140-8162-CF19-CC36-DE00AAF6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1E1E2-45AF-4E79-3BD2-422BF29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2EDEC-BD4F-C617-42A1-91F6341DB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Apéndice 1: UMUBUS – Incluir la librería</a:t>
            </a:r>
          </a:p>
          <a:p>
            <a:pPr marL="0" indent="0">
              <a:buNone/>
            </a:pPr>
            <a:endParaRPr lang="es-ES" sz="2400" dirty="0"/>
          </a:p>
          <a:p>
            <a:r>
              <a:rPr lang="es-ES" b="1" dirty="0"/>
              <a:t>Dependencia en pom.xml</a:t>
            </a:r>
          </a:p>
          <a:p>
            <a:endParaRPr lang="es-ES" b="1" dirty="0"/>
          </a:p>
          <a:p>
            <a:pPr marL="0" indent="0">
              <a:buNone/>
            </a:pPr>
            <a:r>
              <a:rPr lang="es-ES" sz="2800" dirty="0">
                <a:solidFill>
                  <a:srgbClr val="008000"/>
                </a:solidFill>
                <a:highlight>
                  <a:srgbClr val="FFFFFF"/>
                </a:highlight>
              </a:rPr>
              <a:t>&lt;!-- UMUBUS local (CQRS + eventos locales) --&gt;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dependency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 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groupId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s-ES" sz="2800" b="1" dirty="0" err="1">
                <a:solidFill>
                  <a:srgbClr val="000000"/>
                </a:solidFill>
                <a:highlight>
                  <a:srgbClr val="FFFFFF"/>
                </a:highlight>
              </a:rPr>
              <a:t>es.um.atica.fundewebjs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groupId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 	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artifactId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s-ES" sz="2800" b="1" dirty="0" err="1">
                <a:solidFill>
                  <a:srgbClr val="000000"/>
                </a:solidFill>
                <a:highlight>
                  <a:srgbClr val="FFFFFF"/>
                </a:highlight>
              </a:rPr>
              <a:t>fundewebjs-umubus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artifactId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</a:p>
          <a:p>
            <a:pPr marL="0" indent="0">
              <a:buNone/>
            </a:pPr>
            <a:r>
              <a:rPr lang="es-ES" sz="2800" dirty="0">
                <a:solidFill>
                  <a:srgbClr val="0000FF"/>
                </a:solidFill>
                <a:highlight>
                  <a:srgbClr val="FFFFFF"/>
                </a:highlight>
              </a:rPr>
              <a:t>	&lt;</a:t>
            </a:r>
            <a:r>
              <a:rPr lang="es-ES" sz="2800" dirty="0" err="1">
                <a:solidFill>
                  <a:srgbClr val="0000FF"/>
                </a:solidFill>
                <a:highlight>
                  <a:srgbClr val="FFFFFF"/>
                </a:highlight>
              </a:rPr>
              <a:t>version</a:t>
            </a:r>
            <a:r>
              <a:rPr lang="es-ES" sz="280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s-E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1.0.15-SNAPSHOT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version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s-ES" sz="2800" b="0" dirty="0" err="1">
                <a:solidFill>
                  <a:srgbClr val="0000FF"/>
                </a:solidFill>
                <a:highlight>
                  <a:srgbClr val="FFFFFF"/>
                </a:highlight>
              </a:rPr>
              <a:t>dependency</a:t>
            </a:r>
            <a:r>
              <a:rPr lang="es-ES" sz="2800" b="0" dirty="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lang="es-E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s-ES" b="1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17E8C2-55B0-87BF-AB94-DBE73C8960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969C5A-9D54-6C74-C22D-64F369862F3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410711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2AE69-57DF-F0EC-CC2A-8F7D6A39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BA9CA-D29D-9471-6580-EF815A57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8E0F4B-0F2D-97E5-5C9B-6EF6159B0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Apéndice 1: UMUBUS – Clase </a:t>
            </a:r>
            <a:r>
              <a:rPr lang="es-ES" b="1" dirty="0" err="1"/>
              <a:t>Query</a:t>
            </a:r>
            <a:r>
              <a:rPr lang="es-ES" b="1" dirty="0"/>
              <a:t> (Usuario)</a:t>
            </a:r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ObtenerUsuarioQuery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Query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Optional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&gt;&gt;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0" dirty="0" err="1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usuarioId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dirty="0">
                <a:solidFill>
                  <a:srgbClr val="008000"/>
                </a:solidFill>
                <a:highlight>
                  <a:srgbClr val="FFFFFF"/>
                </a:highlight>
              </a:rPr>
              <a:t>//Definimos constructor privado</a:t>
            </a:r>
            <a:endParaRPr lang="es-ES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ObtenerUsuarioQuery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of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usuarioId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ObtenerUsuarioQuery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usuarioId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s-ES" sz="240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89939-2141-3057-C89E-6D7DFF2F7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AFF6DA-27F1-D5C4-4E70-0884FAD76F1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1208674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E0FB-E2DC-9347-23DE-B276762F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A99EB-726E-271D-F20A-EA1521B7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89B866-666A-09BF-E805-19EC0B6F2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/>
              <a:t>Apéndice 1: UMUBUS – Clase </a:t>
            </a:r>
            <a:r>
              <a:rPr lang="es-ES" b="1" dirty="0" err="1"/>
              <a:t>QueryHandler</a:t>
            </a:r>
            <a:r>
              <a:rPr lang="es-ES" b="1" dirty="0"/>
              <a:t> (Usuario)</a:t>
            </a:r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@Component</a:t>
            </a:r>
          </a:p>
          <a:p>
            <a:pPr marL="0" indent="0">
              <a:buNone/>
            </a:pPr>
            <a:r>
              <a:rPr lang="es-ES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ObtenerUsuarioQueryHandler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implements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QueryHandler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Optional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Usuario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&gt;,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ObtenerUsuarioQuery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0" dirty="0" err="1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UsuarioReadRepository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usuariosRepository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//Definimos constructor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@Override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Optional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handle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ObtenerUsuarioQuery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query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throws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Exception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usuariosRepository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findUsuario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query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getUsuarioId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());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C3509-9EC8-B1C8-1F60-78BE0DC0EB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A21185-62A6-3108-F614-291C6D6A8F3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4233657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BB8E-0937-4771-D2EB-2CDC3964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F55C9-1D64-2E28-5E50-E28BBEE5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14099F-B5BE-B441-DA92-B2B0099BD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Apéndice 1: UMUBUS – Clase </a:t>
            </a:r>
            <a:r>
              <a:rPr lang="es-ES" b="1" dirty="0" err="1"/>
              <a:t>SyncCommand</a:t>
            </a:r>
            <a:r>
              <a:rPr lang="es-ES" b="1" dirty="0"/>
              <a:t> (Usuario)</a:t>
            </a:r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SyncCommand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Void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0" dirty="0" err="1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id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//Definimos constructor privado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of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id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s-ES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Validate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Command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Data </a:t>
            </a:r>
            <a:r>
              <a:rPr lang="es-ES" sz="24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for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UI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id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75231D-0F69-FA17-8DB0-72055AD264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388F4-18EE-9AE5-F879-793AC839EB5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758374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9B82-5FF2-FDB2-9239-8C72E5B1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51BA4-9B96-EEF5-FAF4-21DBA636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AA5671-4377-E002-B506-7E6152268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/>
              <a:t>Apéndice 1: UMUBUS – Clase </a:t>
            </a:r>
            <a:r>
              <a:rPr lang="es-ES" b="1" dirty="0" err="1"/>
              <a:t>SyncCommandHandler</a:t>
            </a:r>
            <a:r>
              <a:rPr lang="es-ES" b="1" dirty="0"/>
              <a:t> 1 (Usuario)</a:t>
            </a:r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@Component</a:t>
            </a:r>
          </a:p>
          <a:p>
            <a:pPr marL="0" indent="0">
              <a:buNone/>
            </a:pPr>
            <a:r>
              <a:rPr lang="es-ES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dirty="0" err="1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CrearUsuarioCommandHandler</a:t>
            </a:r>
            <a:r>
              <a:rPr lang="es-ES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implements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SyncCommandHandler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Void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&gt;{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0" dirty="0" err="1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UsuarioWriteRepository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usuariosWriteRepository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0" dirty="0" err="1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UsuarioReadRepository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usuariosReadRepository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//Definimos constructor</a:t>
            </a: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@Override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Void handle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command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……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3D79A4-67D3-2C99-9AA4-9C01FB4B73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8BBEB2-E89F-692B-B245-EE0252E2562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31058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0CA8-0501-B333-4CFE-81E22CDF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59BCE-92B0-A352-CC8F-DEDE43B5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3. CQRS en sistemas reales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0B4EAC-E317-74C4-E134-6F8178929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/>
              <a:t>Apéndice 1: UMUBUS – Clase </a:t>
            </a:r>
            <a:r>
              <a:rPr lang="es-ES" b="1" dirty="0" err="1"/>
              <a:t>SyncCommandHandler</a:t>
            </a:r>
            <a:r>
              <a:rPr lang="es-ES" b="1" dirty="0"/>
              <a:t> 2 (Usuario)</a:t>
            </a:r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 Void handle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CrearUsuarioCommand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command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Idempotencia</a:t>
            </a: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usuariosReadRepository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findUsuario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getId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())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ifPresentOrElse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u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)-&gt;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throw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UnsupportedOperationException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format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“…”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},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-&gt;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Usuario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usr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UsuarioFactory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createUsuario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getId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());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usr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createUsuario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usuariosWriteRepository</a:t>
            </a:r>
            <a:r>
              <a:rPr lang="es-ES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saveUsuario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usr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s-E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2400" b="1" dirty="0" err="1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s-E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</a:p>
          <a:p>
            <a:pPr marL="0" indent="0">
              <a:buNone/>
            </a:pPr>
            <a:r>
              <a:rPr lang="es-ES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s-ES" sz="240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12D32F-0D62-3F13-1A74-50AB8CA9E7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ES" dirty="0"/>
              <a:t>Apéndice1: UMUBUS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2B17BD-E388-C507-1538-DC5386A8440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583325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3959-C0F6-DD9B-E76B-9A701191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072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M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>
            <a:latin typeface="IBM Plex Sans" panose="020B050305020300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ABD9A9DC-AE45-4897-8165-08051E93C7FD}" vid="{75DAC26B-7340-45A7-8047-A34F0AF90EE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37399-9f4f-4399-8e7f-23cd760d553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6CC243D6C40F843B11E79F278E1BCA3" ma:contentTypeVersion="15" ma:contentTypeDescription="Crear nuevo documento." ma:contentTypeScope="" ma:versionID="af3b012a3a7bb17b3e764709a63f08df">
  <xsd:schema xmlns:xsd="http://www.w3.org/2001/XMLSchema" xmlns:xs="http://www.w3.org/2001/XMLSchema" xmlns:p="http://schemas.microsoft.com/office/2006/metadata/properties" xmlns:ns3="4c7f63bd-1a58-4f4b-9f5e-709e0ee0d413" xmlns:ns4="8e237399-9f4f-4399-8e7f-23cd760d5530" targetNamespace="http://schemas.microsoft.com/office/2006/metadata/properties" ma:root="true" ma:fieldsID="3ec71465080429ede056e77988c480af" ns3:_="" ns4:_="">
    <xsd:import namespace="4c7f63bd-1a58-4f4b-9f5e-709e0ee0d413"/>
    <xsd:import namespace="8e237399-9f4f-4399-8e7f-23cd760d553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OCR" minOccurs="0"/>
                <xsd:element ref="ns4:MediaLengthInSeconds" minOccurs="0"/>
                <xsd:element ref="ns4:MediaServiceSearchPropertie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f63bd-1a58-4f4b-9f5e-709e0ee0d4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37399-9f4f-4399-8e7f-23cd760d55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A6882C-F361-4A88-981E-F38E05028340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8e237399-9f4f-4399-8e7f-23cd760d5530"/>
    <ds:schemaRef ds:uri="http://schemas.microsoft.com/office/2006/documentManagement/types"/>
    <ds:schemaRef ds:uri="4c7f63bd-1a58-4f4b-9f5e-709e0ee0d41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584B560-E006-41B5-B9D9-8234FC73A2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1013DB-6F37-4919-927D-4212B38E14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7f63bd-1a58-4f4b-9f5e-709e0ee0d413"/>
    <ds:schemaRef ds:uri="8e237399-9f4f-4399-8e7f-23cd760d55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Generica</Template>
  <TotalTime>3252</TotalTime>
  <Words>3250</Words>
  <Application>Microsoft Office PowerPoint</Application>
  <PresentationFormat>Panorámica</PresentationFormat>
  <Paragraphs>439</Paragraphs>
  <Slides>32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Aptos</vt:lpstr>
      <vt:lpstr>Arial</vt:lpstr>
      <vt:lpstr>IBM Plex Sans</vt:lpstr>
      <vt:lpstr>Tema UMU</vt:lpstr>
      <vt:lpstr>Tema 3. CQRS en sistemas reales  Separando lectura y escritura en nuestro caso práctico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Presentación de PowerPoint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Tema 3. CQRS en sistemas reales</vt:lpstr>
      <vt:lpstr>Presentación de PowerPoint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FRANCISCO SANCHEZ PEÑALVER</dc:creator>
  <cp:lastModifiedBy>Victor Gomollon Martos</cp:lastModifiedBy>
  <cp:revision>26</cp:revision>
  <dcterms:created xsi:type="dcterms:W3CDTF">2026-01-03T17:22:37Z</dcterms:created>
  <dcterms:modified xsi:type="dcterms:W3CDTF">2026-02-23T19:33:51Z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0x01010006CC243D6C40F843B11E79F278E1BCA3</vt:lpwstr>
  </property>
  <property fmtid="{D5CDD505-2E9C-101B-9397-08002B2CF9AE}" pid="3" name="_dlc_DocIdItemGuid">
    <vt:lpwstr>6823f0f3-9bb6-4c72-91ba-4096af4405f1</vt:lpwstr>
  </property>
</Properties>
</file>